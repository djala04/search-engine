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3" r:id="rId8"/>
    <p:sldId id="264" r:id="rId9"/>
    <p:sldId id="268" r:id="rId10"/>
    <p:sldId id="269" r:id="rId11"/>
    <p:sldId id="267"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57979-7BAF-3949-95B3-FF019BDA7178}" v="4" dt="2026-04-10T05:58:41.174"/>
    <p1510:client id="{DE401244-DF2D-8CF0-4889-D5924944761B}" v="1" dt="2026-04-10T10:25:50.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5"/>
  </p:normalViewPr>
  <p:slideViewPr>
    <p:cSldViewPr snapToGrid="0">
      <p:cViewPr varScale="1">
        <p:scale>
          <a:sx n="151" d="100"/>
          <a:sy n="151" d="100"/>
        </p:scale>
        <p:origin x="5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4857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My name is Marharyta and joined by my fellow students Haadi and Saif, we are going to present our Hybrid Search Engine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t>In this video we are going to walk you through the stages of the development of the hybrid search engine. We are going to explain our motivation behind the engine’s development, walk you over the datasets that were used for the project, explain the inner-workings of the engine, including which models were used to derive the results. At the end, we are going to compare the performance of the 3 chosen models on each dataset and answer the research question.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i="1"/>
              <a:t>Can hybrid retrieval systems combining lexical and semantic signals provide improved robustness under cross-domain evaluation, compared to dense or sparse methods alone? </a:t>
            </a:r>
            <a:r>
              <a:rPr lang="en-US" u="sng"/>
              <a:t> </a:t>
            </a:r>
            <a:r>
              <a:rPr lang="en-US"/>
              <a:t>To </a:t>
            </a:r>
            <a:r>
              <a:rPr lang="en-US" err="1"/>
              <a:t>answear</a:t>
            </a:r>
            <a:r>
              <a:rPr lang="en-US"/>
              <a:t> this question, we evaluate BM25, </a:t>
            </a:r>
            <a:r>
              <a:rPr lang="en-US" err="1"/>
              <a:t>ColBERT</a:t>
            </a:r>
            <a:r>
              <a:rPr lang="en-US"/>
              <a:t>, and the RRF-fused hybrid configuration on the 3 datasets from different domains. </a:t>
            </a:r>
          </a:p>
          <a:p>
            <a:pPr marL="171450" indent="-171450">
              <a:buFont typeface="Arial"/>
              <a:buChar char="•"/>
            </a:pPr>
            <a:r>
              <a:rPr lang="en-US"/>
              <a:t>BM25 is used as a sparse retrieval model. When a query is submitted, BM25 produces a ranked list of documents based on exact word matching. It considers how frequently query terms appear in a document and adjusts for document length </a:t>
            </a:r>
          </a:p>
          <a:p>
            <a:pPr marL="171450" indent="-171450">
              <a:buFont typeface="Arial"/>
              <a:buChar char="•"/>
            </a:pPr>
            <a:r>
              <a:rPr lang="en-US" err="1"/>
              <a:t>ColBERT</a:t>
            </a:r>
            <a:r>
              <a:rPr lang="en-US"/>
              <a:t> is used as a dense retrieval model. It independently produces a ranked list of documents by measuring semantic similarity between the query and documents using token-level matching. This allows the system to capture semantic relationships beyond exact keyword overlap. </a:t>
            </a:r>
          </a:p>
          <a:p>
            <a:pPr marL="171450" indent="-171450">
              <a:buFont typeface="Arial"/>
              <a:buChar char="•"/>
            </a:pPr>
            <a:r>
              <a:rPr lang="en-US"/>
              <a:t>The final ranking is produced using Reciprocal Rank Fusion. BM25 and </a:t>
            </a:r>
            <a:r>
              <a:rPr lang="en-US" err="1"/>
              <a:t>ColBERT</a:t>
            </a:r>
            <a:r>
              <a:rPr lang="en-US"/>
              <a:t> each generate independent ranked lists. RRF combines these rankings based on their positions rather than their raw score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t>To be able to check the cross-domain performance, we used 3 datasets:</a:t>
            </a:r>
          </a:p>
          <a:p>
            <a:pPr marL="171450" indent="-171450">
              <a:buFont typeface="Arial"/>
              <a:buChar char="•"/>
            </a:pPr>
            <a:r>
              <a:rPr lang="en-US"/>
              <a:t>TREC-COVID was created during the early stages of the COVID-19 pandemic to help clinicians and researchers find information within the rapidly growing </a:t>
            </a:r>
            <a:r>
              <a:rPr lang="en-US" b="1"/>
              <a:t>CORD-19</a:t>
            </a:r>
            <a:r>
              <a:rPr lang="en-US"/>
              <a:t> corpus. It consist of 171k scientific articles. The queries are 50 topics, each featuring a short keyword query, a natural language question, and a detailed "narrative" of what makes a document relevant. </a:t>
            </a:r>
          </a:p>
          <a:p>
            <a:pPr marL="171450" indent="-171450">
              <a:buFont typeface="Arial"/>
              <a:buChar char="•"/>
            </a:pPr>
            <a:r>
              <a:rPr lang="en-US" err="1"/>
              <a:t>HotpotQA</a:t>
            </a:r>
            <a:r>
              <a:rPr lang="en-US"/>
              <a:t> is a large-scale, crowdsourced question-answering dataset. It contains</a:t>
            </a:r>
            <a:r>
              <a:rPr lang="en-US" b="1"/>
              <a:t> Wikipedia-based question-answer pairs</a:t>
            </a:r>
            <a:r>
              <a:rPr lang="en-US"/>
              <a:t> developed to require reasoning across multiple documents to answer. </a:t>
            </a:r>
          </a:p>
          <a:p>
            <a:pPr marL="171450" indent="-171450">
              <a:buFont typeface="Arial"/>
              <a:buChar char="•"/>
            </a:pPr>
            <a:r>
              <a:rPr lang="en-US"/>
              <a:t>The </a:t>
            </a:r>
            <a:r>
              <a:rPr lang="en-US" err="1"/>
              <a:t>FiQA</a:t>
            </a:r>
            <a:r>
              <a:rPr lang="en-US"/>
              <a:t> 2018 dataset consists of financial data gathered from web sources, including microblog messages (e.g., </a:t>
            </a:r>
            <a:r>
              <a:rPr lang="en-US" err="1"/>
              <a:t>StockTwits</a:t>
            </a:r>
            <a:r>
              <a:rPr lang="en-US"/>
              <a:t>, Twitter) and news headlines (e.g., Reddit, </a:t>
            </a:r>
            <a:r>
              <a:rPr lang="en-US" err="1"/>
              <a:t>Wikinews</a:t>
            </a:r>
            <a:r>
              <a:rPr lang="en-US"/>
              <a:t>).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a:t>The overall structure consists of a Document preparation phase and a query processing phase.</a:t>
            </a:r>
          </a:p>
          <a:p>
            <a:r>
              <a:rPr lang="en-US"/>
              <a:t>In the document preparation phase, the document collection is prepared before any user searches are made. First, basic text cleaning, is applied. Next, documents are indexed into Elasticsearch, which constructs an inverted index and applies BM25. The inverted index stores each word along with the list of documents in which it appears. This allows the system to quickly find documents that contain the query terms. At the same time, the documents are processed using </a:t>
            </a:r>
            <a:r>
              <a:rPr lang="en-US" err="1"/>
              <a:t>ColBERT</a:t>
            </a:r>
            <a:r>
              <a:rPr lang="en-US"/>
              <a:t> to create numerical representations that capture their meaning. These representations are stored in advance so that they can be reused later during query processing. </a:t>
            </a:r>
          </a:p>
          <a:p>
            <a:r>
              <a:rPr lang="en-US"/>
              <a:t>In the query processing phase, the query is cleaned in the same way as the documents, so that the matching is consistent. BM25 and </a:t>
            </a:r>
            <a:r>
              <a:rPr lang="en-US" err="1"/>
              <a:t>ColBERT</a:t>
            </a:r>
            <a:r>
              <a:rPr lang="en-US"/>
              <a:t> operate independently to produce separate ranked lists for each query.  Then, the rankings from BM25 and </a:t>
            </a:r>
            <a:r>
              <a:rPr lang="en-US" err="1"/>
              <a:t>ColBERT</a:t>
            </a:r>
            <a:r>
              <a:rPr lang="en-US"/>
              <a:t> are combined using Reciprocal Rank Fusion (RRF), which merges rankings based on their positions and produces one final ranked list.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a:buChar char="•"/>
            </a:pPr>
            <a:r>
              <a:rPr lang="en-US" b="1"/>
              <a:t>BM25</a:t>
            </a:r>
            <a:r>
              <a:rPr lang="en-US"/>
              <a:t> is implemented using Elasticsearch 7.9, storing documents with title and text fields and using BM25 as the default similarity function. The parameters are tuned to k₁ = 0.9 and b = 0.4, with bulk indexing used to handle large corpora efficiently.</a:t>
            </a:r>
          </a:p>
          <a:p>
            <a:r>
              <a:rPr lang="en-US" b="1" err="1"/>
              <a:t>ColBERT</a:t>
            </a:r>
            <a:r>
              <a:rPr lang="en-US"/>
              <a:t> uses ColBERTv2.0 via the </a:t>
            </a:r>
            <a:r>
              <a:rPr lang="en-US" err="1"/>
              <a:t>RAGatouille</a:t>
            </a:r>
            <a:r>
              <a:rPr lang="en-US"/>
              <a:t> library, pre-trained on MS MARCO in a zero-shot setting. It preserves token-level embeddings and uses late interaction with MaxSim scoring to compare query and document tokens. The documents capped at 180 tokens for processing efficiency.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E932F-DE17-9FBB-1D01-2FEF4D395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D4EAE-179F-625D-26A5-7A7D80F727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C521BF-FC69-EB60-74DD-772DCA8BBF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A310B3-9340-4C25-E293-4A3BBCC1809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700264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47B14-BBEF-EC8C-4CB1-317FBEA2D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74F0C-54B3-B0D2-BD0F-F42C7AACAA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414388-FE5C-27FA-BF38-E46F318D31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9EFF35-3FB1-A4E1-E356-06A6E8679C8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01872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US"/>
          </a:p>
        </p:txBody>
      </p:sp>
      <p:sp>
        <p:nvSpPr>
          <p:cNvPr id="3" name="Shape 1"/>
          <p:cNvSpPr/>
          <p:nvPr/>
        </p:nvSpPr>
        <p:spPr>
          <a:xfrm>
            <a:off x="731520" y="1097280"/>
            <a:ext cx="2377440" cy="347472"/>
          </a:xfrm>
          <a:prstGeom prst="rect">
            <a:avLst/>
          </a:prstGeom>
          <a:solidFill>
            <a:srgbClr val="0891B2">
              <a:alpha val="20000"/>
            </a:srgbClr>
          </a:solidFill>
          <a:ln/>
        </p:spPr>
        <p:txBody>
          <a:bodyPr/>
          <a:lstStyle/>
          <a:p>
            <a:endParaRPr lang="en-US"/>
          </a:p>
        </p:txBody>
      </p:sp>
      <p:sp>
        <p:nvSpPr>
          <p:cNvPr id="4" name="Text 2"/>
          <p:cNvSpPr/>
          <p:nvPr/>
        </p:nvSpPr>
        <p:spPr>
          <a:xfrm>
            <a:off x="731520" y="1097280"/>
            <a:ext cx="2377440" cy="347472"/>
          </a:xfrm>
          <a:prstGeom prst="rect">
            <a:avLst/>
          </a:prstGeom>
          <a:noFill/>
          <a:ln/>
        </p:spPr>
        <p:txBody>
          <a:bodyPr wrap="square" lIns="0" tIns="0" rIns="0" bIns="0" rtlCol="0" anchor="ctr"/>
          <a:lstStyle/>
          <a:p>
            <a:pPr marL="0" indent="0" algn="ctr">
              <a:buNone/>
            </a:pPr>
            <a:r>
              <a:rPr lang="en-US" sz="900" b="1" kern="0" spc="300">
                <a:solidFill>
                  <a:srgbClr val="06B6D4"/>
                </a:solidFill>
                <a:latin typeface="Calibri" pitchFamily="34" charset="0"/>
                <a:ea typeface="Calibri" pitchFamily="34" charset="-122"/>
                <a:cs typeface="Calibri" pitchFamily="34" charset="-120"/>
              </a:rPr>
              <a:t>INFORMATION RETRIEVAL</a:t>
            </a:r>
            <a:endParaRPr lang="en-US" sz="900"/>
          </a:p>
        </p:txBody>
      </p:sp>
      <p:sp>
        <p:nvSpPr>
          <p:cNvPr id="5" name="Text 3"/>
          <p:cNvSpPr/>
          <p:nvPr/>
        </p:nvSpPr>
        <p:spPr>
          <a:xfrm>
            <a:off x="731520" y="1645920"/>
            <a:ext cx="7315200" cy="914400"/>
          </a:xfrm>
          <a:prstGeom prst="rect">
            <a:avLst/>
          </a:prstGeom>
          <a:noFill/>
          <a:ln/>
        </p:spPr>
        <p:txBody>
          <a:bodyPr wrap="square" lIns="0" tIns="0" rIns="0" bIns="0" rtlCol="0" anchor="ctr"/>
          <a:lstStyle/>
          <a:p>
            <a:pPr marL="0" indent="0">
              <a:buNone/>
            </a:pPr>
            <a:r>
              <a:rPr lang="en-US" sz="4200" b="1">
                <a:solidFill>
                  <a:srgbClr val="FFFFFF"/>
                </a:solidFill>
                <a:latin typeface="Trebuchet MS" pitchFamily="34" charset="0"/>
                <a:ea typeface="Trebuchet MS" pitchFamily="34" charset="-122"/>
                <a:cs typeface="Trebuchet MS" pitchFamily="34" charset="-120"/>
              </a:rPr>
              <a:t>Hybrid Search Engine</a:t>
            </a:r>
            <a:endParaRPr lang="en-US" sz="4200"/>
          </a:p>
        </p:txBody>
      </p:sp>
      <p:sp>
        <p:nvSpPr>
          <p:cNvPr id="6" name="Text 4"/>
          <p:cNvSpPr/>
          <p:nvPr/>
        </p:nvSpPr>
        <p:spPr>
          <a:xfrm>
            <a:off x="731520" y="2560320"/>
            <a:ext cx="7315200" cy="457200"/>
          </a:xfrm>
          <a:prstGeom prst="rect">
            <a:avLst/>
          </a:prstGeom>
          <a:noFill/>
          <a:ln/>
        </p:spPr>
        <p:txBody>
          <a:bodyPr wrap="square" lIns="0" tIns="0" rIns="0" bIns="0" rtlCol="0" anchor="ctr"/>
          <a:lstStyle/>
          <a:p>
            <a:pPr marL="0" indent="0">
              <a:buNone/>
            </a:pPr>
            <a:r>
              <a:rPr lang="en-US" sz="2000">
                <a:solidFill>
                  <a:srgbClr val="67E8F9"/>
                </a:solidFill>
                <a:latin typeface="Calibri" pitchFamily="34" charset="0"/>
                <a:ea typeface="Calibri" pitchFamily="34" charset="-122"/>
                <a:cs typeface="Calibri" pitchFamily="34" charset="-120"/>
              </a:rPr>
              <a:t>BM25 + ColBERT + Reciprocal Rank Fusion</a:t>
            </a:r>
            <a:endParaRPr lang="en-US" sz="2000"/>
          </a:p>
        </p:txBody>
      </p:sp>
      <p:sp>
        <p:nvSpPr>
          <p:cNvPr id="7" name="Shape 5"/>
          <p:cNvSpPr/>
          <p:nvPr/>
        </p:nvSpPr>
        <p:spPr>
          <a:xfrm>
            <a:off x="731520" y="3291840"/>
            <a:ext cx="2743200" cy="0"/>
          </a:xfrm>
          <a:prstGeom prst="line">
            <a:avLst/>
          </a:prstGeom>
          <a:noFill/>
          <a:ln w="19050">
            <a:solidFill>
              <a:srgbClr val="0891B2"/>
            </a:solidFill>
            <a:prstDash val="solid"/>
          </a:ln>
        </p:spPr>
        <p:txBody>
          <a:bodyPr/>
          <a:lstStyle/>
          <a:p>
            <a:endParaRPr lang="en-US"/>
          </a:p>
        </p:txBody>
      </p:sp>
      <p:sp>
        <p:nvSpPr>
          <p:cNvPr id="8" name="Text 6"/>
          <p:cNvSpPr/>
          <p:nvPr/>
        </p:nvSpPr>
        <p:spPr>
          <a:xfrm>
            <a:off x="731520" y="3566160"/>
            <a:ext cx="7315200" cy="365760"/>
          </a:xfrm>
          <a:prstGeom prst="rect">
            <a:avLst/>
          </a:prstGeom>
          <a:noFill/>
          <a:ln/>
        </p:spPr>
        <p:txBody>
          <a:bodyPr wrap="square" lIns="0" tIns="0" rIns="0" bIns="0" rtlCol="0" anchor="ctr"/>
          <a:lstStyle/>
          <a:p>
            <a:pPr marL="0" indent="0">
              <a:buNone/>
            </a:pPr>
            <a:r>
              <a:rPr lang="en-US" sz="1300">
                <a:solidFill>
                  <a:srgbClr val="94A3B8"/>
                </a:solidFill>
                <a:latin typeface="Calibri" pitchFamily="34" charset="0"/>
                <a:ea typeface="Calibri" pitchFamily="34" charset="-122"/>
                <a:cs typeface="Calibri" pitchFamily="34" charset="-120"/>
              </a:rPr>
              <a:t>Saif Ali Khan Mangan  ·  Marharyta Dzhafarova  ·  Haadi Muhammad Iftikhar</a:t>
            </a:r>
            <a:endParaRPr lang="en-US" sz="1300"/>
          </a:p>
        </p:txBody>
      </p:sp>
      <p:sp>
        <p:nvSpPr>
          <p:cNvPr id="9" name="Text 7"/>
          <p:cNvSpPr/>
          <p:nvPr/>
        </p:nvSpPr>
        <p:spPr>
          <a:xfrm>
            <a:off x="731520" y="3977640"/>
            <a:ext cx="7315200" cy="365760"/>
          </a:xfrm>
          <a:prstGeom prst="rect">
            <a:avLst/>
          </a:prstGeom>
          <a:noFill/>
          <a:ln/>
        </p:spPr>
        <p:txBody>
          <a:bodyPr wrap="square" lIns="0" tIns="0" rIns="0" bIns="0" rtlCol="0" anchor="ctr"/>
          <a:lstStyle/>
          <a:p>
            <a:pPr marL="0" indent="0">
              <a:buNone/>
            </a:pPr>
            <a:r>
              <a:rPr lang="en-US" sz="1100">
                <a:solidFill>
                  <a:srgbClr val="64748B"/>
                </a:solidFill>
                <a:latin typeface="Calibri" pitchFamily="34" charset="0"/>
                <a:ea typeface="Calibri" pitchFamily="34" charset="-122"/>
                <a:cs typeface="Calibri" pitchFamily="34" charset="-120"/>
              </a:rPr>
              <a:t>ECS736P — Queen Mary University of London</a:t>
            </a:r>
            <a:endParaRPr lang="en-US" sz="1100"/>
          </a:p>
        </p:txBody>
      </p:sp>
      <p:sp>
        <p:nvSpPr>
          <p:cNvPr id="10" name="TextBox 9">
            <a:extLst>
              <a:ext uri="{FF2B5EF4-FFF2-40B4-BE49-F238E27FC236}">
                <a16:creationId xmlns:a16="http://schemas.microsoft.com/office/drawing/2014/main" id="{F2F61A99-3593-226C-CFCC-A6A4C56C3CCA}"/>
              </a:ext>
            </a:extLst>
          </p:cNvPr>
          <p:cNvSpPr txBox="1"/>
          <p:nvPr/>
        </p:nvSpPr>
        <p:spPr>
          <a:xfrm>
            <a:off x="4183380" y="4069080"/>
            <a:ext cx="184731" cy="369332"/>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640080"/>
          </a:xfrm>
          <a:prstGeom prst="rect">
            <a:avLst/>
          </a:prstGeom>
          <a:noFill/>
          <a:ln/>
        </p:spPr>
        <p:txBody>
          <a:bodyPr wrap="square" lIns="0" tIns="0" rIns="0" bIns="0" rtlCol="0" anchor="ctr"/>
          <a:lstStyle/>
          <a:p>
            <a:pPr marL="0" indent="0">
              <a:buNone/>
            </a:pPr>
            <a:r>
              <a:rPr lang="en-US" sz="3200" b="1">
                <a:solidFill>
                  <a:srgbClr val="0F172A"/>
                </a:solidFill>
                <a:latin typeface="Trebuchet MS" pitchFamily="34" charset="0"/>
                <a:ea typeface="Trebuchet MS" pitchFamily="34" charset="-122"/>
                <a:cs typeface="Trebuchet MS" pitchFamily="34" charset="-120"/>
              </a:rPr>
              <a:t>Presentation Overview</a:t>
            </a:r>
            <a:endParaRPr lang="en-US" sz="3200"/>
          </a:p>
        </p:txBody>
      </p:sp>
      <p:sp>
        <p:nvSpPr>
          <p:cNvPr id="3" name="Shape 1"/>
          <p:cNvSpPr/>
          <p:nvPr/>
        </p:nvSpPr>
        <p:spPr>
          <a:xfrm>
            <a:off x="640080" y="1280160"/>
            <a:ext cx="7863840" cy="47548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4" name="Shape 2"/>
          <p:cNvSpPr/>
          <p:nvPr/>
        </p:nvSpPr>
        <p:spPr>
          <a:xfrm>
            <a:off x="640080" y="1280160"/>
            <a:ext cx="54864" cy="475488"/>
          </a:xfrm>
          <a:prstGeom prst="rect">
            <a:avLst/>
          </a:prstGeom>
          <a:solidFill>
            <a:srgbClr val="0891B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68680" y="1362456"/>
            <a:ext cx="310896" cy="310896"/>
          </a:xfrm>
          <a:prstGeom prst="rect">
            <a:avLst/>
          </a:prstGeom>
        </p:spPr>
      </p:pic>
      <p:sp>
        <p:nvSpPr>
          <p:cNvPr id="6" name="Text 3"/>
          <p:cNvSpPr/>
          <p:nvPr/>
        </p:nvSpPr>
        <p:spPr>
          <a:xfrm>
            <a:off x="1371600" y="1280160"/>
            <a:ext cx="6858000" cy="475488"/>
          </a:xfrm>
          <a:prstGeom prst="rect">
            <a:avLst/>
          </a:prstGeom>
          <a:noFill/>
          <a:ln/>
        </p:spPr>
        <p:txBody>
          <a:bodyPr wrap="square" lIns="0" tIns="0" rIns="0" bIns="0" rtlCol="0" anchor="ctr"/>
          <a:lstStyle/>
          <a:p>
            <a:pPr marL="0" indent="0">
              <a:buNone/>
            </a:pPr>
            <a:r>
              <a:rPr lang="en-US" sz="1500">
                <a:solidFill>
                  <a:srgbClr val="1E293B"/>
                </a:solidFill>
                <a:latin typeface="Calibri" pitchFamily="34" charset="0"/>
                <a:ea typeface="Calibri" pitchFamily="34" charset="-122"/>
                <a:cs typeface="Calibri" pitchFamily="34" charset="-120"/>
              </a:rPr>
              <a:t>Research Question &amp; Motivation</a:t>
            </a:r>
            <a:endParaRPr lang="en-US" sz="1500"/>
          </a:p>
        </p:txBody>
      </p:sp>
      <p:sp>
        <p:nvSpPr>
          <p:cNvPr id="7" name="Shape 4"/>
          <p:cNvSpPr/>
          <p:nvPr/>
        </p:nvSpPr>
        <p:spPr>
          <a:xfrm>
            <a:off x="640080" y="1874520"/>
            <a:ext cx="7863840" cy="47548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8" name="Shape 5"/>
          <p:cNvSpPr/>
          <p:nvPr/>
        </p:nvSpPr>
        <p:spPr>
          <a:xfrm>
            <a:off x="640080" y="1874520"/>
            <a:ext cx="54864" cy="475488"/>
          </a:xfrm>
          <a:prstGeom prst="rect">
            <a:avLst/>
          </a:prstGeom>
          <a:solidFill>
            <a:srgbClr val="0891B2"/>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868680" y="1956816"/>
            <a:ext cx="310896" cy="310896"/>
          </a:xfrm>
          <a:prstGeom prst="rect">
            <a:avLst/>
          </a:prstGeom>
        </p:spPr>
      </p:pic>
      <p:sp>
        <p:nvSpPr>
          <p:cNvPr id="10" name="Text 6"/>
          <p:cNvSpPr/>
          <p:nvPr/>
        </p:nvSpPr>
        <p:spPr>
          <a:xfrm>
            <a:off x="1371600" y="1874520"/>
            <a:ext cx="6858000" cy="475488"/>
          </a:xfrm>
          <a:prstGeom prst="rect">
            <a:avLst/>
          </a:prstGeom>
          <a:noFill/>
          <a:ln/>
        </p:spPr>
        <p:txBody>
          <a:bodyPr wrap="square" lIns="0" tIns="0" rIns="0" bIns="0" rtlCol="0" anchor="ctr"/>
          <a:lstStyle/>
          <a:p>
            <a:pPr marL="0" indent="0">
              <a:buNone/>
            </a:pPr>
            <a:r>
              <a:rPr lang="en-US" sz="1500">
                <a:solidFill>
                  <a:srgbClr val="1E293B"/>
                </a:solidFill>
                <a:latin typeface="Calibri" pitchFamily="34" charset="0"/>
                <a:ea typeface="Calibri" pitchFamily="34" charset="-122"/>
                <a:cs typeface="Calibri" pitchFamily="34" charset="-120"/>
              </a:rPr>
              <a:t>Datasets — TREC-COVID, HotpotQA, FiQA</a:t>
            </a:r>
            <a:endParaRPr lang="en-US" sz="1500"/>
          </a:p>
        </p:txBody>
      </p:sp>
      <p:sp>
        <p:nvSpPr>
          <p:cNvPr id="11" name="Shape 7"/>
          <p:cNvSpPr/>
          <p:nvPr/>
        </p:nvSpPr>
        <p:spPr>
          <a:xfrm>
            <a:off x="640080" y="2468880"/>
            <a:ext cx="7863840" cy="47548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8"/>
          <p:cNvSpPr/>
          <p:nvPr/>
        </p:nvSpPr>
        <p:spPr>
          <a:xfrm>
            <a:off x="640080" y="2468880"/>
            <a:ext cx="54864" cy="475488"/>
          </a:xfrm>
          <a:prstGeom prst="rect">
            <a:avLst/>
          </a:prstGeom>
          <a:solidFill>
            <a:srgbClr val="0891B2"/>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868680" y="2551176"/>
            <a:ext cx="310896" cy="310896"/>
          </a:xfrm>
          <a:prstGeom prst="rect">
            <a:avLst/>
          </a:prstGeom>
        </p:spPr>
      </p:pic>
      <p:sp>
        <p:nvSpPr>
          <p:cNvPr id="14" name="Text 9"/>
          <p:cNvSpPr/>
          <p:nvPr/>
        </p:nvSpPr>
        <p:spPr>
          <a:xfrm>
            <a:off x="1371600" y="2468880"/>
            <a:ext cx="6858000" cy="475488"/>
          </a:xfrm>
          <a:prstGeom prst="rect">
            <a:avLst/>
          </a:prstGeom>
          <a:noFill/>
          <a:ln/>
        </p:spPr>
        <p:txBody>
          <a:bodyPr wrap="square" lIns="0" tIns="0" rIns="0" bIns="0" rtlCol="0" anchor="ctr"/>
          <a:lstStyle/>
          <a:p>
            <a:pPr marL="0" indent="0">
              <a:buNone/>
            </a:pPr>
            <a:r>
              <a:rPr lang="en-US" sz="1500">
                <a:solidFill>
                  <a:srgbClr val="1E293B"/>
                </a:solidFill>
                <a:latin typeface="Calibri" pitchFamily="34" charset="0"/>
                <a:ea typeface="Calibri" pitchFamily="34" charset="-122"/>
                <a:cs typeface="Calibri" pitchFamily="34" charset="-120"/>
              </a:rPr>
              <a:t>System Architecture &amp; Indexing</a:t>
            </a:r>
            <a:endParaRPr lang="en-US" sz="1500"/>
          </a:p>
        </p:txBody>
      </p:sp>
      <p:sp>
        <p:nvSpPr>
          <p:cNvPr id="15" name="Shape 10"/>
          <p:cNvSpPr/>
          <p:nvPr/>
        </p:nvSpPr>
        <p:spPr>
          <a:xfrm>
            <a:off x="640080" y="3063240"/>
            <a:ext cx="7863840" cy="47548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1"/>
          <p:cNvSpPr/>
          <p:nvPr/>
        </p:nvSpPr>
        <p:spPr>
          <a:xfrm>
            <a:off x="640080" y="3063240"/>
            <a:ext cx="54864" cy="475488"/>
          </a:xfrm>
          <a:prstGeom prst="rect">
            <a:avLst/>
          </a:prstGeom>
          <a:solidFill>
            <a:srgbClr val="0891B2"/>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868680" y="3145536"/>
            <a:ext cx="310896" cy="310896"/>
          </a:xfrm>
          <a:prstGeom prst="rect">
            <a:avLst/>
          </a:prstGeom>
        </p:spPr>
      </p:pic>
      <p:sp>
        <p:nvSpPr>
          <p:cNvPr id="18" name="Text 12"/>
          <p:cNvSpPr/>
          <p:nvPr/>
        </p:nvSpPr>
        <p:spPr>
          <a:xfrm>
            <a:off x="1371600" y="3063240"/>
            <a:ext cx="6858000" cy="475488"/>
          </a:xfrm>
          <a:prstGeom prst="rect">
            <a:avLst/>
          </a:prstGeom>
          <a:noFill/>
          <a:ln/>
        </p:spPr>
        <p:txBody>
          <a:bodyPr wrap="square" lIns="0" tIns="0" rIns="0" bIns="0" rtlCol="0" anchor="ctr"/>
          <a:lstStyle/>
          <a:p>
            <a:pPr marL="0" indent="0">
              <a:buNone/>
            </a:pPr>
            <a:r>
              <a:rPr lang="en-US" sz="1500">
                <a:solidFill>
                  <a:srgbClr val="1E293B"/>
                </a:solidFill>
                <a:latin typeface="Calibri" pitchFamily="34" charset="0"/>
                <a:ea typeface="Calibri" pitchFamily="34" charset="-122"/>
                <a:cs typeface="Calibri" pitchFamily="34" charset="-120"/>
              </a:rPr>
              <a:t>Retrieval Models — BM25, ColBERT, RRF</a:t>
            </a:r>
            <a:endParaRPr lang="en-US" sz="1500"/>
          </a:p>
        </p:txBody>
      </p:sp>
      <p:sp>
        <p:nvSpPr>
          <p:cNvPr id="19" name="Shape 13"/>
          <p:cNvSpPr/>
          <p:nvPr/>
        </p:nvSpPr>
        <p:spPr>
          <a:xfrm>
            <a:off x="640080" y="3657600"/>
            <a:ext cx="7863840" cy="47548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4"/>
          <p:cNvSpPr/>
          <p:nvPr/>
        </p:nvSpPr>
        <p:spPr>
          <a:xfrm>
            <a:off x="640080" y="3657600"/>
            <a:ext cx="54864" cy="475488"/>
          </a:xfrm>
          <a:prstGeom prst="rect">
            <a:avLst/>
          </a:prstGeom>
          <a:solidFill>
            <a:srgbClr val="0891B2"/>
          </a:solidFill>
          <a:ln/>
        </p:spPr>
        <p:txBody>
          <a:bodyPr/>
          <a:lstStyle/>
          <a:p>
            <a:endParaRPr lang="en-US"/>
          </a:p>
        </p:txBody>
      </p:sp>
      <p:pic>
        <p:nvPicPr>
          <p:cNvPr id="21" name="Image 4" descr="preencoded.png"/>
          <p:cNvPicPr>
            <a:picLocks noChangeAspect="1"/>
          </p:cNvPicPr>
          <p:nvPr/>
        </p:nvPicPr>
        <p:blipFill>
          <a:blip r:embed="rId7"/>
          <a:stretch>
            <a:fillRect/>
          </a:stretch>
        </p:blipFill>
        <p:spPr>
          <a:xfrm>
            <a:off x="868680" y="3739896"/>
            <a:ext cx="310896" cy="310896"/>
          </a:xfrm>
          <a:prstGeom prst="rect">
            <a:avLst/>
          </a:prstGeom>
        </p:spPr>
      </p:pic>
      <p:sp>
        <p:nvSpPr>
          <p:cNvPr id="22" name="Text 15"/>
          <p:cNvSpPr/>
          <p:nvPr/>
        </p:nvSpPr>
        <p:spPr>
          <a:xfrm>
            <a:off x="1371600" y="3657600"/>
            <a:ext cx="6858000" cy="475488"/>
          </a:xfrm>
          <a:prstGeom prst="rect">
            <a:avLst/>
          </a:prstGeom>
          <a:noFill/>
          <a:ln/>
        </p:spPr>
        <p:txBody>
          <a:bodyPr wrap="square" lIns="0" tIns="0" rIns="0" bIns="0" rtlCol="0" anchor="ctr"/>
          <a:lstStyle/>
          <a:p>
            <a:pPr marL="0" indent="0">
              <a:buNone/>
            </a:pPr>
            <a:r>
              <a:rPr lang="en-US" sz="1500">
                <a:solidFill>
                  <a:srgbClr val="1E293B"/>
                </a:solidFill>
                <a:latin typeface="Calibri" pitchFamily="34" charset="0"/>
                <a:ea typeface="Calibri" pitchFamily="34" charset="-122"/>
                <a:cs typeface="Calibri" pitchFamily="34" charset="-120"/>
              </a:rPr>
              <a:t>Evaluation Results &amp; Analysis</a:t>
            </a:r>
            <a:endParaRPr lang="en-US" sz="1500"/>
          </a:p>
        </p:txBody>
      </p:sp>
      <p:sp>
        <p:nvSpPr>
          <p:cNvPr id="23" name="Shape 16"/>
          <p:cNvSpPr/>
          <p:nvPr/>
        </p:nvSpPr>
        <p:spPr>
          <a:xfrm>
            <a:off x="640080" y="4251960"/>
            <a:ext cx="7863840" cy="47548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17"/>
          <p:cNvSpPr/>
          <p:nvPr/>
        </p:nvSpPr>
        <p:spPr>
          <a:xfrm>
            <a:off x="640080" y="4251960"/>
            <a:ext cx="54864" cy="475488"/>
          </a:xfrm>
          <a:prstGeom prst="rect">
            <a:avLst/>
          </a:prstGeom>
          <a:solidFill>
            <a:srgbClr val="0891B2"/>
          </a:solidFill>
          <a:ln/>
        </p:spPr>
        <p:txBody>
          <a:bodyPr/>
          <a:lstStyle/>
          <a:p>
            <a:endParaRPr lang="en-US"/>
          </a:p>
        </p:txBody>
      </p:sp>
      <p:pic>
        <p:nvPicPr>
          <p:cNvPr id="25" name="Image 5" descr="preencoded.png"/>
          <p:cNvPicPr>
            <a:picLocks noChangeAspect="1"/>
          </p:cNvPicPr>
          <p:nvPr/>
        </p:nvPicPr>
        <p:blipFill>
          <a:blip r:embed="rId8"/>
          <a:stretch>
            <a:fillRect/>
          </a:stretch>
        </p:blipFill>
        <p:spPr>
          <a:xfrm>
            <a:off x="868680" y="4334256"/>
            <a:ext cx="310896" cy="310896"/>
          </a:xfrm>
          <a:prstGeom prst="rect">
            <a:avLst/>
          </a:prstGeom>
        </p:spPr>
      </p:pic>
      <p:sp>
        <p:nvSpPr>
          <p:cNvPr id="26" name="Text 18"/>
          <p:cNvSpPr/>
          <p:nvPr/>
        </p:nvSpPr>
        <p:spPr>
          <a:xfrm>
            <a:off x="1371600" y="4251960"/>
            <a:ext cx="6858000" cy="475488"/>
          </a:xfrm>
          <a:prstGeom prst="rect">
            <a:avLst/>
          </a:prstGeom>
          <a:noFill/>
          <a:ln/>
        </p:spPr>
        <p:txBody>
          <a:bodyPr wrap="square" lIns="0" tIns="0" rIns="0" bIns="0" rtlCol="0" anchor="ctr"/>
          <a:lstStyle/>
          <a:p>
            <a:pPr marL="0" indent="0">
              <a:buNone/>
            </a:pPr>
            <a:r>
              <a:rPr lang="en-US" sz="1500">
                <a:solidFill>
                  <a:srgbClr val="1E293B"/>
                </a:solidFill>
                <a:latin typeface="Calibri" pitchFamily="34" charset="0"/>
                <a:ea typeface="Calibri" pitchFamily="34" charset="-122"/>
                <a:cs typeface="Calibri" pitchFamily="34" charset="-120"/>
              </a:rPr>
              <a:t>Live Demo</a:t>
            </a:r>
            <a:endParaRPr lang="en-US"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US"/>
          </a:p>
        </p:txBody>
      </p:sp>
      <p:sp>
        <p:nvSpPr>
          <p:cNvPr id="3" name="Text 1"/>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pitchFamily="34" charset="0"/>
                <a:ea typeface="Trebuchet MS" pitchFamily="34" charset="-122"/>
                <a:cs typeface="Trebuchet MS" pitchFamily="34" charset="-120"/>
              </a:rPr>
              <a:t>Research Question</a:t>
            </a:r>
            <a:endParaRPr lang="en-US" sz="3000"/>
          </a:p>
        </p:txBody>
      </p:sp>
      <p:sp>
        <p:nvSpPr>
          <p:cNvPr id="4" name="Shape 2"/>
          <p:cNvSpPr/>
          <p:nvPr/>
        </p:nvSpPr>
        <p:spPr>
          <a:xfrm>
            <a:off x="640080" y="1188720"/>
            <a:ext cx="7863840" cy="1280160"/>
          </a:xfrm>
          <a:prstGeom prst="rect">
            <a:avLst/>
          </a:prstGeom>
          <a:solidFill>
            <a:srgbClr val="1E293B"/>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640080" y="1188720"/>
            <a:ext cx="64008" cy="1280160"/>
          </a:xfrm>
          <a:prstGeom prst="rect">
            <a:avLst/>
          </a:prstGeom>
          <a:solidFill>
            <a:srgbClr val="06B6D4"/>
          </a:solidFill>
          <a:ln/>
        </p:spPr>
        <p:txBody>
          <a:bodyPr/>
          <a:lstStyle/>
          <a:p>
            <a:endParaRPr lang="en-US"/>
          </a:p>
        </p:txBody>
      </p:sp>
      <p:sp>
        <p:nvSpPr>
          <p:cNvPr id="6" name="Text 4"/>
          <p:cNvSpPr/>
          <p:nvPr/>
        </p:nvSpPr>
        <p:spPr>
          <a:xfrm>
            <a:off x="1005840" y="1280160"/>
            <a:ext cx="7223760" cy="1097280"/>
          </a:xfrm>
          <a:prstGeom prst="rect">
            <a:avLst/>
          </a:prstGeom>
          <a:noFill/>
          <a:ln/>
        </p:spPr>
        <p:txBody>
          <a:bodyPr wrap="square" lIns="0" tIns="0" rIns="0" bIns="0" rtlCol="0" anchor="ctr"/>
          <a:lstStyle/>
          <a:p>
            <a:pPr marL="0" indent="0">
              <a:buNone/>
            </a:pPr>
            <a:r>
              <a:rPr lang="en-US" sz="1600" i="1">
                <a:solidFill>
                  <a:srgbClr val="F1F5F9"/>
                </a:solidFill>
                <a:latin typeface="Calibri" pitchFamily="34" charset="0"/>
                <a:ea typeface="Calibri" pitchFamily="34" charset="-122"/>
                <a:cs typeface="Calibri" pitchFamily="34" charset="-120"/>
              </a:rPr>
              <a:t>Can hybrid retrieval systems combining lexical and semantic signals provide improved robustness under cross-domain evaluation, compared to dense or sparse methods alone?</a:t>
            </a:r>
            <a:endParaRPr lang="en-US" sz="1600"/>
          </a:p>
        </p:txBody>
      </p:sp>
      <p:sp>
        <p:nvSpPr>
          <p:cNvPr id="7" name="Shape 5"/>
          <p:cNvSpPr/>
          <p:nvPr/>
        </p:nvSpPr>
        <p:spPr>
          <a:xfrm>
            <a:off x="640080" y="2926080"/>
            <a:ext cx="2514600" cy="14630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8" name="Text 6"/>
          <p:cNvSpPr/>
          <p:nvPr/>
        </p:nvSpPr>
        <p:spPr>
          <a:xfrm>
            <a:off x="822960" y="3063240"/>
            <a:ext cx="2148840" cy="320040"/>
          </a:xfrm>
          <a:prstGeom prst="rect">
            <a:avLst/>
          </a:prstGeom>
          <a:noFill/>
          <a:ln/>
        </p:spPr>
        <p:txBody>
          <a:bodyPr wrap="square" lIns="0" tIns="0" rIns="0" bIns="0" rtlCol="0" anchor="ctr"/>
          <a:lstStyle/>
          <a:p>
            <a:pPr marL="0" indent="0">
              <a:buNone/>
            </a:pPr>
            <a:r>
              <a:rPr lang="en-US" sz="1400" b="1">
                <a:solidFill>
                  <a:srgbClr val="06B6D4"/>
                </a:solidFill>
                <a:latin typeface="Trebuchet MS" pitchFamily="34" charset="0"/>
                <a:ea typeface="Trebuchet MS" pitchFamily="34" charset="-122"/>
                <a:cs typeface="Trebuchet MS" pitchFamily="34" charset="-120"/>
              </a:rPr>
              <a:t>Sparse</a:t>
            </a:r>
            <a:endParaRPr lang="en-US" sz="1400"/>
          </a:p>
        </p:txBody>
      </p:sp>
      <p:sp>
        <p:nvSpPr>
          <p:cNvPr id="9" name="Text 7"/>
          <p:cNvSpPr/>
          <p:nvPr/>
        </p:nvSpPr>
        <p:spPr>
          <a:xfrm>
            <a:off x="822960" y="3429000"/>
            <a:ext cx="2148840" cy="822960"/>
          </a:xfrm>
          <a:prstGeom prst="rect">
            <a:avLst/>
          </a:prstGeom>
          <a:noFill/>
          <a:ln/>
        </p:spPr>
        <p:txBody>
          <a:bodyPr wrap="square" lIns="0" tIns="0" rIns="0" bIns="0" rtlCol="0" anchor="ctr"/>
          <a:lstStyle/>
          <a:p>
            <a:pPr marL="0" indent="0">
              <a:buNone/>
            </a:pPr>
            <a:r>
              <a:rPr lang="en-US" sz="1150">
                <a:solidFill>
                  <a:srgbClr val="94A3B8"/>
                </a:solidFill>
                <a:latin typeface="Calibri" pitchFamily="34" charset="0"/>
                <a:ea typeface="Calibri" pitchFamily="34" charset="-122"/>
                <a:cs typeface="Calibri" pitchFamily="34" charset="-120"/>
              </a:rPr>
              <a:t>BM25 — exact term matching, robust but no semantics</a:t>
            </a:r>
            <a:endParaRPr lang="en-US" sz="1150"/>
          </a:p>
        </p:txBody>
      </p:sp>
      <p:sp>
        <p:nvSpPr>
          <p:cNvPr id="10" name="Shape 8"/>
          <p:cNvSpPr/>
          <p:nvPr/>
        </p:nvSpPr>
        <p:spPr>
          <a:xfrm>
            <a:off x="3383280" y="2926080"/>
            <a:ext cx="2514600" cy="14630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11" name="Text 9"/>
          <p:cNvSpPr/>
          <p:nvPr/>
        </p:nvSpPr>
        <p:spPr>
          <a:xfrm>
            <a:off x="3566160" y="3063240"/>
            <a:ext cx="2148840" cy="320040"/>
          </a:xfrm>
          <a:prstGeom prst="rect">
            <a:avLst/>
          </a:prstGeom>
          <a:noFill/>
          <a:ln/>
        </p:spPr>
        <p:txBody>
          <a:bodyPr wrap="square" lIns="0" tIns="0" rIns="0" bIns="0" rtlCol="0" anchor="ctr"/>
          <a:lstStyle/>
          <a:p>
            <a:pPr marL="0" indent="0">
              <a:buNone/>
            </a:pPr>
            <a:r>
              <a:rPr lang="en-US" sz="1400" b="1">
                <a:solidFill>
                  <a:srgbClr val="06B6D4"/>
                </a:solidFill>
                <a:latin typeface="Trebuchet MS" pitchFamily="34" charset="0"/>
                <a:ea typeface="Trebuchet MS" pitchFamily="34" charset="-122"/>
                <a:cs typeface="Trebuchet MS" pitchFamily="34" charset="-120"/>
              </a:rPr>
              <a:t>Dense</a:t>
            </a:r>
            <a:endParaRPr lang="en-US" sz="1400"/>
          </a:p>
        </p:txBody>
      </p:sp>
      <p:sp>
        <p:nvSpPr>
          <p:cNvPr id="12" name="Text 10"/>
          <p:cNvSpPr/>
          <p:nvPr/>
        </p:nvSpPr>
        <p:spPr>
          <a:xfrm>
            <a:off x="3566160" y="3429000"/>
            <a:ext cx="2148840" cy="822960"/>
          </a:xfrm>
          <a:prstGeom prst="rect">
            <a:avLst/>
          </a:prstGeom>
          <a:noFill/>
          <a:ln/>
        </p:spPr>
        <p:txBody>
          <a:bodyPr wrap="square" lIns="0" tIns="0" rIns="0" bIns="0" rtlCol="0" anchor="ctr"/>
          <a:lstStyle/>
          <a:p>
            <a:pPr marL="0" indent="0">
              <a:buNone/>
            </a:pPr>
            <a:r>
              <a:rPr lang="en-US" sz="1150">
                <a:solidFill>
                  <a:srgbClr val="94A3B8"/>
                </a:solidFill>
                <a:latin typeface="Calibri" pitchFamily="34" charset="0"/>
                <a:ea typeface="Calibri" pitchFamily="34" charset="-122"/>
                <a:cs typeface="Calibri" pitchFamily="34" charset="-120"/>
              </a:rPr>
              <a:t>ColBERT — semantic similarity via late interaction</a:t>
            </a:r>
            <a:endParaRPr lang="en-US" sz="1150"/>
          </a:p>
        </p:txBody>
      </p:sp>
      <p:sp>
        <p:nvSpPr>
          <p:cNvPr id="13" name="Shape 11"/>
          <p:cNvSpPr/>
          <p:nvPr/>
        </p:nvSpPr>
        <p:spPr>
          <a:xfrm>
            <a:off x="6126480" y="2926080"/>
            <a:ext cx="2514600" cy="14630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14" name="Text 12"/>
          <p:cNvSpPr/>
          <p:nvPr/>
        </p:nvSpPr>
        <p:spPr>
          <a:xfrm>
            <a:off x="6309360" y="3063240"/>
            <a:ext cx="2148840" cy="320040"/>
          </a:xfrm>
          <a:prstGeom prst="rect">
            <a:avLst/>
          </a:prstGeom>
          <a:noFill/>
          <a:ln/>
        </p:spPr>
        <p:txBody>
          <a:bodyPr wrap="square" lIns="0" tIns="0" rIns="0" bIns="0" rtlCol="0" anchor="ctr"/>
          <a:lstStyle/>
          <a:p>
            <a:pPr marL="0" indent="0">
              <a:buNone/>
            </a:pPr>
            <a:r>
              <a:rPr lang="en-US" sz="1400" b="1">
                <a:solidFill>
                  <a:srgbClr val="06B6D4"/>
                </a:solidFill>
                <a:latin typeface="Trebuchet MS" pitchFamily="34" charset="0"/>
                <a:ea typeface="Trebuchet MS" pitchFamily="34" charset="-122"/>
                <a:cs typeface="Trebuchet MS" pitchFamily="34" charset="-120"/>
              </a:rPr>
              <a:t>Hybrid</a:t>
            </a:r>
            <a:endParaRPr lang="en-US" sz="1400"/>
          </a:p>
        </p:txBody>
      </p:sp>
      <p:sp>
        <p:nvSpPr>
          <p:cNvPr id="15" name="Text 13"/>
          <p:cNvSpPr/>
          <p:nvPr/>
        </p:nvSpPr>
        <p:spPr>
          <a:xfrm>
            <a:off x="6309360" y="3429000"/>
            <a:ext cx="2148840" cy="822960"/>
          </a:xfrm>
          <a:prstGeom prst="rect">
            <a:avLst/>
          </a:prstGeom>
          <a:noFill/>
          <a:ln/>
        </p:spPr>
        <p:txBody>
          <a:bodyPr wrap="square" lIns="0" tIns="0" rIns="0" bIns="0" rtlCol="0" anchor="ctr"/>
          <a:lstStyle/>
          <a:p>
            <a:pPr marL="0" indent="0">
              <a:buNone/>
            </a:pPr>
            <a:r>
              <a:rPr lang="en-US" sz="1150">
                <a:solidFill>
                  <a:srgbClr val="94A3B8"/>
                </a:solidFill>
                <a:latin typeface="Calibri" pitchFamily="34" charset="0"/>
                <a:ea typeface="Calibri" pitchFamily="34" charset="-122"/>
                <a:cs typeface="Calibri" pitchFamily="34" charset="-120"/>
              </a:rPr>
              <a:t>RRF fusion — combines both rankings without score normalisation</a:t>
            </a:r>
            <a:endParaRPr lang="en-US" sz="11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a:solidFill>
                  <a:srgbClr val="0F172A"/>
                </a:solidFill>
                <a:latin typeface="Trebuchet MS" pitchFamily="34" charset="0"/>
                <a:ea typeface="Trebuchet MS" pitchFamily="34" charset="-122"/>
                <a:cs typeface="Trebuchet MS" pitchFamily="34" charset="-120"/>
              </a:rPr>
              <a:t>Datasets — BEIR Benchmark</a:t>
            </a:r>
            <a:endParaRPr lang="en-US" sz="3000"/>
          </a:p>
        </p:txBody>
      </p:sp>
      <p:sp>
        <p:nvSpPr>
          <p:cNvPr id="3" name="Text 1"/>
          <p:cNvSpPr/>
          <p:nvPr/>
        </p:nvSpPr>
        <p:spPr>
          <a:xfrm>
            <a:off x="640080" y="914400"/>
            <a:ext cx="8229600" cy="320040"/>
          </a:xfrm>
          <a:prstGeom prst="rect">
            <a:avLst/>
          </a:prstGeom>
          <a:noFill/>
          <a:ln/>
        </p:spPr>
        <p:txBody>
          <a:bodyPr wrap="square" lIns="0" tIns="0" rIns="0" bIns="0" rtlCol="0" anchor="ctr"/>
          <a:lstStyle/>
          <a:p>
            <a:pPr marL="0" indent="0">
              <a:buNone/>
            </a:pPr>
            <a:r>
              <a:rPr lang="en-US" sz="1300">
                <a:solidFill>
                  <a:srgbClr val="64748B"/>
                </a:solidFill>
                <a:latin typeface="Calibri" pitchFamily="34" charset="0"/>
                <a:ea typeface="Calibri" pitchFamily="34" charset="-122"/>
                <a:cs typeface="Calibri" pitchFamily="34" charset="-120"/>
              </a:rPr>
              <a:t>Three heterogeneous datasets for zero-shot cross-domain evaluation</a:t>
            </a:r>
            <a:endParaRPr lang="en-US" sz="1300"/>
          </a:p>
        </p:txBody>
      </p:sp>
      <p:sp>
        <p:nvSpPr>
          <p:cNvPr id="4" name="Shape 2"/>
          <p:cNvSpPr/>
          <p:nvPr/>
        </p:nvSpPr>
        <p:spPr>
          <a:xfrm>
            <a:off x="640080" y="1463040"/>
            <a:ext cx="251460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640080" y="1463040"/>
            <a:ext cx="2514600" cy="54864"/>
          </a:xfrm>
          <a:prstGeom prst="rect">
            <a:avLst/>
          </a:prstGeom>
          <a:solidFill>
            <a:srgbClr val="0891B2"/>
          </a:solidFill>
          <a:ln/>
        </p:spPr>
        <p:txBody>
          <a:bodyPr/>
          <a:lstStyle/>
          <a:p>
            <a:endParaRPr lang="en-US"/>
          </a:p>
        </p:txBody>
      </p:sp>
      <p:sp>
        <p:nvSpPr>
          <p:cNvPr id="6" name="Text 4"/>
          <p:cNvSpPr/>
          <p:nvPr/>
        </p:nvSpPr>
        <p:spPr>
          <a:xfrm>
            <a:off x="822960" y="1645920"/>
            <a:ext cx="2148840" cy="365760"/>
          </a:xfrm>
          <a:prstGeom prst="rect">
            <a:avLst/>
          </a:prstGeom>
          <a:noFill/>
          <a:ln/>
        </p:spPr>
        <p:txBody>
          <a:bodyPr wrap="square" lIns="0" tIns="0" rIns="0" bIns="0" rtlCol="0" anchor="ctr"/>
          <a:lstStyle/>
          <a:p>
            <a:pPr marL="0" indent="0">
              <a:buNone/>
            </a:pPr>
            <a:r>
              <a:rPr lang="en-US" sz="1700" b="1">
                <a:solidFill>
                  <a:srgbClr val="0F172A"/>
                </a:solidFill>
                <a:latin typeface="Trebuchet MS" pitchFamily="34" charset="0"/>
                <a:ea typeface="Trebuchet MS" pitchFamily="34" charset="-122"/>
                <a:cs typeface="Trebuchet MS" pitchFamily="34" charset="-120"/>
              </a:rPr>
              <a:t>TREC-COVID</a:t>
            </a:r>
            <a:endParaRPr lang="en-US" sz="1700"/>
          </a:p>
        </p:txBody>
      </p:sp>
      <p:sp>
        <p:nvSpPr>
          <p:cNvPr id="7" name="Shape 5"/>
          <p:cNvSpPr/>
          <p:nvPr/>
        </p:nvSpPr>
        <p:spPr>
          <a:xfrm>
            <a:off x="822960" y="2057400"/>
            <a:ext cx="1280160" cy="256032"/>
          </a:xfrm>
          <a:prstGeom prst="rect">
            <a:avLst/>
          </a:prstGeom>
          <a:solidFill>
            <a:srgbClr val="0891B2">
              <a:alpha val="15000"/>
            </a:srgbClr>
          </a:solidFill>
          <a:ln/>
        </p:spPr>
        <p:txBody>
          <a:bodyPr/>
          <a:lstStyle/>
          <a:p>
            <a:endParaRPr lang="en-US"/>
          </a:p>
        </p:txBody>
      </p:sp>
      <p:sp>
        <p:nvSpPr>
          <p:cNvPr id="8" name="Text 6"/>
          <p:cNvSpPr/>
          <p:nvPr/>
        </p:nvSpPr>
        <p:spPr>
          <a:xfrm>
            <a:off x="822960" y="2057400"/>
            <a:ext cx="1280160" cy="256032"/>
          </a:xfrm>
          <a:prstGeom prst="rect">
            <a:avLst/>
          </a:prstGeom>
          <a:noFill/>
          <a:ln/>
        </p:spPr>
        <p:txBody>
          <a:bodyPr wrap="square" lIns="0" tIns="0" rIns="0" bIns="0" rtlCol="0" anchor="ctr"/>
          <a:lstStyle/>
          <a:p>
            <a:pPr marL="0" indent="0" algn="ctr">
              <a:buNone/>
            </a:pPr>
            <a:r>
              <a:rPr lang="en-US" sz="900" b="1">
                <a:solidFill>
                  <a:srgbClr val="0891B2"/>
                </a:solidFill>
                <a:latin typeface="Calibri" pitchFamily="34" charset="0"/>
                <a:ea typeface="Calibri" pitchFamily="34" charset="-122"/>
                <a:cs typeface="Calibri" pitchFamily="34" charset="-120"/>
              </a:rPr>
              <a:t>Biomedical</a:t>
            </a:r>
            <a:endParaRPr lang="en-US" sz="900"/>
          </a:p>
        </p:txBody>
      </p:sp>
      <p:sp>
        <p:nvSpPr>
          <p:cNvPr id="9" name="Text 7"/>
          <p:cNvSpPr/>
          <p:nvPr/>
        </p:nvSpPr>
        <p:spPr>
          <a:xfrm>
            <a:off x="822960" y="2514600"/>
            <a:ext cx="1005840" cy="640080"/>
          </a:xfrm>
          <a:prstGeom prst="rect">
            <a:avLst/>
          </a:prstGeom>
          <a:noFill/>
          <a:ln/>
        </p:spPr>
        <p:txBody>
          <a:bodyPr wrap="square" lIns="0" tIns="0" rIns="0" bIns="0" rtlCol="0" anchor="ctr"/>
          <a:lstStyle/>
          <a:p>
            <a:pPr marL="0" indent="0">
              <a:buNone/>
            </a:pPr>
            <a:r>
              <a:rPr lang="en-US" sz="2200" b="1">
                <a:solidFill>
                  <a:srgbClr val="0F172A"/>
                </a:solidFill>
              </a:rPr>
              <a:t>171K</a:t>
            </a:r>
            <a:endParaRPr lang="en-US" sz="2200"/>
          </a:p>
          <a:p>
            <a:pPr marL="0" indent="0">
              <a:buNone/>
            </a:pPr>
            <a:r>
              <a:rPr lang="en-US" sz="1000">
                <a:solidFill>
                  <a:srgbClr val="64748B"/>
                </a:solidFill>
              </a:rPr>
              <a:t>documents</a:t>
            </a:r>
            <a:endParaRPr lang="en-US" sz="2200"/>
          </a:p>
        </p:txBody>
      </p:sp>
      <p:sp>
        <p:nvSpPr>
          <p:cNvPr id="10" name="Text 8"/>
          <p:cNvSpPr/>
          <p:nvPr/>
        </p:nvSpPr>
        <p:spPr>
          <a:xfrm>
            <a:off x="1874520" y="2514600"/>
            <a:ext cx="1005840" cy="640080"/>
          </a:xfrm>
          <a:prstGeom prst="rect">
            <a:avLst/>
          </a:prstGeom>
          <a:noFill/>
          <a:ln/>
        </p:spPr>
        <p:txBody>
          <a:bodyPr wrap="square" lIns="0" tIns="0" rIns="0" bIns="0" rtlCol="0" anchor="ctr"/>
          <a:lstStyle/>
          <a:p>
            <a:pPr marL="0" indent="0">
              <a:buNone/>
            </a:pPr>
            <a:r>
              <a:rPr lang="en-US" sz="2200" b="1">
                <a:solidFill>
                  <a:srgbClr val="0F172A"/>
                </a:solidFill>
              </a:rPr>
              <a:t>50</a:t>
            </a:r>
            <a:endParaRPr lang="en-US" sz="2200"/>
          </a:p>
          <a:p>
            <a:pPr marL="0" indent="0">
              <a:buNone/>
            </a:pPr>
            <a:r>
              <a:rPr lang="en-US" sz="1000">
                <a:solidFill>
                  <a:srgbClr val="64748B"/>
                </a:solidFill>
              </a:rPr>
              <a:t>queries</a:t>
            </a:r>
            <a:endParaRPr lang="en-US" sz="2200"/>
          </a:p>
        </p:txBody>
      </p:sp>
      <p:sp>
        <p:nvSpPr>
          <p:cNvPr id="11" name="Text 9"/>
          <p:cNvSpPr/>
          <p:nvPr/>
        </p:nvSpPr>
        <p:spPr>
          <a:xfrm>
            <a:off x="822960" y="3246120"/>
            <a:ext cx="2148840" cy="7315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Scientific literature retrieval for COVID-19 topics. Graded relevance judgements.</a:t>
            </a:r>
            <a:endParaRPr lang="en-US" sz="1050"/>
          </a:p>
        </p:txBody>
      </p:sp>
      <p:sp>
        <p:nvSpPr>
          <p:cNvPr id="13" name="Shape 11"/>
          <p:cNvSpPr/>
          <p:nvPr/>
        </p:nvSpPr>
        <p:spPr>
          <a:xfrm>
            <a:off x="3383280" y="1463040"/>
            <a:ext cx="251460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3383280" y="1463040"/>
            <a:ext cx="2514600" cy="54864"/>
          </a:xfrm>
          <a:prstGeom prst="rect">
            <a:avLst/>
          </a:prstGeom>
          <a:solidFill>
            <a:srgbClr val="0891B2"/>
          </a:solidFill>
          <a:ln/>
        </p:spPr>
        <p:txBody>
          <a:bodyPr/>
          <a:lstStyle/>
          <a:p>
            <a:endParaRPr lang="en-US"/>
          </a:p>
        </p:txBody>
      </p:sp>
      <p:sp>
        <p:nvSpPr>
          <p:cNvPr id="15" name="Text 13"/>
          <p:cNvSpPr/>
          <p:nvPr/>
        </p:nvSpPr>
        <p:spPr>
          <a:xfrm>
            <a:off x="3566160" y="1645920"/>
            <a:ext cx="2148840" cy="365760"/>
          </a:xfrm>
          <a:prstGeom prst="rect">
            <a:avLst/>
          </a:prstGeom>
          <a:noFill/>
          <a:ln/>
        </p:spPr>
        <p:txBody>
          <a:bodyPr wrap="square" lIns="0" tIns="0" rIns="0" bIns="0" rtlCol="0" anchor="ctr"/>
          <a:lstStyle/>
          <a:p>
            <a:pPr marL="0" indent="0">
              <a:buNone/>
            </a:pPr>
            <a:r>
              <a:rPr lang="en-US" sz="1700" b="1">
                <a:solidFill>
                  <a:srgbClr val="0F172A"/>
                </a:solidFill>
                <a:latin typeface="Trebuchet MS" pitchFamily="34" charset="0"/>
                <a:ea typeface="Trebuchet MS" pitchFamily="34" charset="-122"/>
                <a:cs typeface="Trebuchet MS" pitchFamily="34" charset="-120"/>
              </a:rPr>
              <a:t>HotpotQA</a:t>
            </a:r>
            <a:endParaRPr lang="en-US" sz="1700"/>
          </a:p>
        </p:txBody>
      </p:sp>
      <p:sp>
        <p:nvSpPr>
          <p:cNvPr id="16" name="Shape 14"/>
          <p:cNvSpPr/>
          <p:nvPr/>
        </p:nvSpPr>
        <p:spPr>
          <a:xfrm>
            <a:off x="3566160" y="2057400"/>
            <a:ext cx="1280160" cy="256032"/>
          </a:xfrm>
          <a:prstGeom prst="rect">
            <a:avLst/>
          </a:prstGeom>
          <a:solidFill>
            <a:srgbClr val="0891B2">
              <a:alpha val="15000"/>
            </a:srgbClr>
          </a:solidFill>
          <a:ln/>
        </p:spPr>
        <p:txBody>
          <a:bodyPr/>
          <a:lstStyle/>
          <a:p>
            <a:endParaRPr lang="en-US"/>
          </a:p>
        </p:txBody>
      </p:sp>
      <p:sp>
        <p:nvSpPr>
          <p:cNvPr id="17" name="Text 15"/>
          <p:cNvSpPr/>
          <p:nvPr/>
        </p:nvSpPr>
        <p:spPr>
          <a:xfrm>
            <a:off x="3566160" y="2057400"/>
            <a:ext cx="1280160" cy="256032"/>
          </a:xfrm>
          <a:prstGeom prst="rect">
            <a:avLst/>
          </a:prstGeom>
          <a:noFill/>
          <a:ln/>
        </p:spPr>
        <p:txBody>
          <a:bodyPr wrap="square" lIns="0" tIns="0" rIns="0" bIns="0" rtlCol="0" anchor="ctr"/>
          <a:lstStyle/>
          <a:p>
            <a:pPr marL="0" indent="0" algn="ctr">
              <a:buNone/>
            </a:pPr>
            <a:r>
              <a:rPr lang="en-US" sz="900" b="1">
                <a:solidFill>
                  <a:srgbClr val="0891B2"/>
                </a:solidFill>
                <a:latin typeface="Calibri" pitchFamily="34" charset="0"/>
                <a:ea typeface="Calibri" pitchFamily="34" charset="-122"/>
                <a:cs typeface="Calibri" pitchFamily="34" charset="-120"/>
              </a:rPr>
              <a:t>Multi-hop QA</a:t>
            </a:r>
            <a:endParaRPr lang="en-US" sz="900"/>
          </a:p>
        </p:txBody>
      </p:sp>
      <p:sp>
        <p:nvSpPr>
          <p:cNvPr id="18" name="Text 16"/>
          <p:cNvSpPr/>
          <p:nvPr/>
        </p:nvSpPr>
        <p:spPr>
          <a:xfrm>
            <a:off x="3566160" y="2514600"/>
            <a:ext cx="1005840" cy="640080"/>
          </a:xfrm>
          <a:prstGeom prst="rect">
            <a:avLst/>
          </a:prstGeom>
          <a:noFill/>
          <a:ln/>
        </p:spPr>
        <p:txBody>
          <a:bodyPr wrap="square" lIns="0" tIns="0" rIns="0" bIns="0" rtlCol="0" anchor="ctr"/>
          <a:lstStyle/>
          <a:p>
            <a:pPr marL="0" indent="0">
              <a:buNone/>
            </a:pPr>
            <a:r>
              <a:rPr lang="en-US" sz="2200" b="1">
                <a:solidFill>
                  <a:srgbClr val="0F172A"/>
                </a:solidFill>
              </a:rPr>
              <a:t>5.2M</a:t>
            </a:r>
            <a:endParaRPr lang="en-US" sz="2200"/>
          </a:p>
          <a:p>
            <a:pPr marL="0" indent="0">
              <a:buNone/>
            </a:pPr>
            <a:r>
              <a:rPr lang="en-US" sz="1000">
                <a:solidFill>
                  <a:srgbClr val="64748B"/>
                </a:solidFill>
              </a:rPr>
              <a:t>documents</a:t>
            </a:r>
            <a:endParaRPr lang="en-US" sz="2200"/>
          </a:p>
        </p:txBody>
      </p:sp>
      <p:sp>
        <p:nvSpPr>
          <p:cNvPr id="19" name="Text 17"/>
          <p:cNvSpPr/>
          <p:nvPr/>
        </p:nvSpPr>
        <p:spPr>
          <a:xfrm>
            <a:off x="4617720" y="2514600"/>
            <a:ext cx="1005840" cy="640080"/>
          </a:xfrm>
          <a:prstGeom prst="rect">
            <a:avLst/>
          </a:prstGeom>
          <a:noFill/>
          <a:ln/>
        </p:spPr>
        <p:txBody>
          <a:bodyPr wrap="square" lIns="0" tIns="0" rIns="0" bIns="0" rtlCol="0" anchor="ctr"/>
          <a:lstStyle/>
          <a:p>
            <a:pPr marL="0" indent="0">
              <a:buNone/>
            </a:pPr>
            <a:r>
              <a:rPr lang="en-US" sz="2200" b="1">
                <a:solidFill>
                  <a:srgbClr val="0F172A"/>
                </a:solidFill>
              </a:rPr>
              <a:t>7,405</a:t>
            </a:r>
            <a:endParaRPr lang="en-US" sz="2200"/>
          </a:p>
          <a:p>
            <a:pPr marL="0" indent="0">
              <a:buNone/>
            </a:pPr>
            <a:r>
              <a:rPr lang="en-US" sz="1000">
                <a:solidFill>
                  <a:srgbClr val="64748B"/>
                </a:solidFill>
              </a:rPr>
              <a:t>queries</a:t>
            </a:r>
            <a:endParaRPr lang="en-US" sz="2200"/>
          </a:p>
        </p:txBody>
      </p:sp>
      <p:sp>
        <p:nvSpPr>
          <p:cNvPr id="20" name="Text 18"/>
          <p:cNvSpPr/>
          <p:nvPr/>
        </p:nvSpPr>
        <p:spPr>
          <a:xfrm>
            <a:off x="3566160" y="3246120"/>
            <a:ext cx="2148840" cy="7315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Multi-hop questions requiring reasoning across multiple Wikipedia passages.</a:t>
            </a:r>
            <a:endParaRPr lang="en-US" sz="1050"/>
          </a:p>
        </p:txBody>
      </p:sp>
      <p:sp>
        <p:nvSpPr>
          <p:cNvPr id="22" name="Shape 20"/>
          <p:cNvSpPr/>
          <p:nvPr/>
        </p:nvSpPr>
        <p:spPr>
          <a:xfrm>
            <a:off x="6126480" y="1463040"/>
            <a:ext cx="251460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3" name="Shape 21"/>
          <p:cNvSpPr/>
          <p:nvPr/>
        </p:nvSpPr>
        <p:spPr>
          <a:xfrm>
            <a:off x="6126480" y="1463040"/>
            <a:ext cx="2514600" cy="54864"/>
          </a:xfrm>
          <a:prstGeom prst="rect">
            <a:avLst/>
          </a:prstGeom>
          <a:solidFill>
            <a:srgbClr val="0891B2"/>
          </a:solidFill>
          <a:ln/>
        </p:spPr>
        <p:txBody>
          <a:bodyPr/>
          <a:lstStyle/>
          <a:p>
            <a:endParaRPr lang="en-US"/>
          </a:p>
        </p:txBody>
      </p:sp>
      <p:sp>
        <p:nvSpPr>
          <p:cNvPr id="24" name="Text 22"/>
          <p:cNvSpPr/>
          <p:nvPr/>
        </p:nvSpPr>
        <p:spPr>
          <a:xfrm>
            <a:off x="6309360" y="1645920"/>
            <a:ext cx="2148840" cy="365760"/>
          </a:xfrm>
          <a:prstGeom prst="rect">
            <a:avLst/>
          </a:prstGeom>
          <a:noFill/>
          <a:ln/>
        </p:spPr>
        <p:txBody>
          <a:bodyPr wrap="square" lIns="0" tIns="0" rIns="0" bIns="0" rtlCol="0" anchor="ctr"/>
          <a:lstStyle/>
          <a:p>
            <a:pPr marL="0" indent="0">
              <a:buNone/>
            </a:pPr>
            <a:r>
              <a:rPr lang="en-US" sz="1700" b="1">
                <a:solidFill>
                  <a:srgbClr val="0F172A"/>
                </a:solidFill>
                <a:latin typeface="Trebuchet MS" pitchFamily="34" charset="0"/>
                <a:ea typeface="Trebuchet MS" pitchFamily="34" charset="-122"/>
                <a:cs typeface="Trebuchet MS" pitchFamily="34" charset="-120"/>
              </a:rPr>
              <a:t>FiQA-2018</a:t>
            </a:r>
            <a:endParaRPr lang="en-US" sz="1700"/>
          </a:p>
        </p:txBody>
      </p:sp>
      <p:sp>
        <p:nvSpPr>
          <p:cNvPr id="25" name="Shape 23"/>
          <p:cNvSpPr/>
          <p:nvPr/>
        </p:nvSpPr>
        <p:spPr>
          <a:xfrm>
            <a:off x="6309360" y="2057400"/>
            <a:ext cx="1280160" cy="256032"/>
          </a:xfrm>
          <a:prstGeom prst="rect">
            <a:avLst/>
          </a:prstGeom>
          <a:solidFill>
            <a:srgbClr val="0891B2">
              <a:alpha val="15000"/>
            </a:srgbClr>
          </a:solidFill>
          <a:ln/>
        </p:spPr>
        <p:txBody>
          <a:bodyPr/>
          <a:lstStyle/>
          <a:p>
            <a:endParaRPr lang="en-US"/>
          </a:p>
        </p:txBody>
      </p:sp>
      <p:sp>
        <p:nvSpPr>
          <p:cNvPr id="26" name="Text 24"/>
          <p:cNvSpPr/>
          <p:nvPr/>
        </p:nvSpPr>
        <p:spPr>
          <a:xfrm>
            <a:off x="6309360" y="2057400"/>
            <a:ext cx="1280160" cy="256032"/>
          </a:xfrm>
          <a:prstGeom prst="rect">
            <a:avLst/>
          </a:prstGeom>
          <a:noFill/>
          <a:ln/>
        </p:spPr>
        <p:txBody>
          <a:bodyPr wrap="square" lIns="0" tIns="0" rIns="0" bIns="0" rtlCol="0" anchor="ctr"/>
          <a:lstStyle/>
          <a:p>
            <a:pPr marL="0" indent="0" algn="ctr">
              <a:buNone/>
            </a:pPr>
            <a:r>
              <a:rPr lang="en-US" sz="900" b="1">
                <a:solidFill>
                  <a:srgbClr val="0891B2"/>
                </a:solidFill>
                <a:latin typeface="Calibri" pitchFamily="34" charset="0"/>
                <a:ea typeface="Calibri" pitchFamily="34" charset="-122"/>
                <a:cs typeface="Calibri" pitchFamily="34" charset="-120"/>
              </a:rPr>
              <a:t>Finance</a:t>
            </a:r>
            <a:endParaRPr lang="en-US" sz="900"/>
          </a:p>
        </p:txBody>
      </p:sp>
      <p:sp>
        <p:nvSpPr>
          <p:cNvPr id="27" name="Text 25"/>
          <p:cNvSpPr/>
          <p:nvPr/>
        </p:nvSpPr>
        <p:spPr>
          <a:xfrm>
            <a:off x="6309360" y="2514600"/>
            <a:ext cx="1005840" cy="640080"/>
          </a:xfrm>
          <a:prstGeom prst="rect">
            <a:avLst/>
          </a:prstGeom>
          <a:noFill/>
          <a:ln/>
        </p:spPr>
        <p:txBody>
          <a:bodyPr wrap="square" lIns="0" tIns="0" rIns="0" bIns="0" rtlCol="0" anchor="ctr"/>
          <a:lstStyle/>
          <a:p>
            <a:pPr marL="0" indent="0">
              <a:buNone/>
            </a:pPr>
            <a:r>
              <a:rPr lang="en-US" sz="2200" b="1">
                <a:solidFill>
                  <a:srgbClr val="0F172A"/>
                </a:solidFill>
              </a:rPr>
              <a:t>57K</a:t>
            </a:r>
            <a:endParaRPr lang="en-US" sz="2200"/>
          </a:p>
          <a:p>
            <a:pPr marL="0" indent="0">
              <a:buNone/>
            </a:pPr>
            <a:r>
              <a:rPr lang="en-US" sz="1000">
                <a:solidFill>
                  <a:srgbClr val="64748B"/>
                </a:solidFill>
              </a:rPr>
              <a:t>documents</a:t>
            </a:r>
            <a:endParaRPr lang="en-US" sz="2200"/>
          </a:p>
        </p:txBody>
      </p:sp>
      <p:sp>
        <p:nvSpPr>
          <p:cNvPr id="28" name="Text 26"/>
          <p:cNvSpPr/>
          <p:nvPr/>
        </p:nvSpPr>
        <p:spPr>
          <a:xfrm>
            <a:off x="7360920" y="2514600"/>
            <a:ext cx="1005840" cy="640080"/>
          </a:xfrm>
          <a:prstGeom prst="rect">
            <a:avLst/>
          </a:prstGeom>
          <a:noFill/>
          <a:ln/>
        </p:spPr>
        <p:txBody>
          <a:bodyPr wrap="square" lIns="0" tIns="0" rIns="0" bIns="0" rtlCol="0" anchor="ctr"/>
          <a:lstStyle/>
          <a:p>
            <a:pPr marL="0" indent="0">
              <a:buNone/>
            </a:pPr>
            <a:r>
              <a:rPr lang="en-US" sz="2200" b="1">
                <a:solidFill>
                  <a:srgbClr val="0F172A"/>
                </a:solidFill>
              </a:rPr>
              <a:t>648</a:t>
            </a:r>
            <a:endParaRPr lang="en-US" sz="2200"/>
          </a:p>
          <a:p>
            <a:pPr marL="0" indent="0">
              <a:buNone/>
            </a:pPr>
            <a:r>
              <a:rPr lang="en-US" sz="1000">
                <a:solidFill>
                  <a:srgbClr val="64748B"/>
                </a:solidFill>
              </a:rPr>
              <a:t>queries</a:t>
            </a:r>
            <a:endParaRPr lang="en-US" sz="2200"/>
          </a:p>
        </p:txBody>
      </p:sp>
      <p:sp>
        <p:nvSpPr>
          <p:cNvPr id="29" name="Text 27"/>
          <p:cNvSpPr/>
          <p:nvPr/>
        </p:nvSpPr>
        <p:spPr>
          <a:xfrm>
            <a:off x="6309360" y="3246120"/>
            <a:ext cx="2148840" cy="7315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Opinion-based financial QA from forums and reports.</a:t>
            </a:r>
            <a:endParaRPr lang="en-US"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US"/>
          </a:p>
        </p:txBody>
      </p:sp>
      <p:sp>
        <p:nvSpPr>
          <p:cNvPr id="3" name="Text 1"/>
          <p:cNvSpPr/>
          <p:nvPr/>
        </p:nvSpPr>
        <p:spPr>
          <a:xfrm>
            <a:off x="640080" y="274320"/>
            <a:ext cx="82296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pitchFamily="34" charset="0"/>
                <a:ea typeface="Trebuchet MS" pitchFamily="34" charset="-122"/>
                <a:cs typeface="Trebuchet MS" pitchFamily="34" charset="-120"/>
              </a:rPr>
              <a:t>System Architecture</a:t>
            </a:r>
            <a:endParaRPr lang="en-US" sz="3000"/>
          </a:p>
        </p:txBody>
      </p:sp>
      <p:sp>
        <p:nvSpPr>
          <p:cNvPr id="4" name="Shape 2"/>
          <p:cNvSpPr/>
          <p:nvPr/>
        </p:nvSpPr>
        <p:spPr>
          <a:xfrm>
            <a:off x="640080" y="1005840"/>
            <a:ext cx="1828800" cy="292608"/>
          </a:xfrm>
          <a:prstGeom prst="rect">
            <a:avLst/>
          </a:prstGeom>
          <a:solidFill>
            <a:srgbClr val="0891B2"/>
          </a:solidFill>
          <a:ln/>
        </p:spPr>
        <p:txBody>
          <a:bodyPr/>
          <a:lstStyle/>
          <a:p>
            <a:endParaRPr lang="en-US"/>
          </a:p>
        </p:txBody>
      </p:sp>
      <p:sp>
        <p:nvSpPr>
          <p:cNvPr id="5" name="Text 3"/>
          <p:cNvSpPr/>
          <p:nvPr/>
        </p:nvSpPr>
        <p:spPr>
          <a:xfrm>
            <a:off x="640080" y="1005840"/>
            <a:ext cx="1828800" cy="292608"/>
          </a:xfrm>
          <a:prstGeom prst="rect">
            <a:avLst/>
          </a:prstGeom>
          <a:noFill/>
          <a:ln/>
        </p:spPr>
        <p:txBody>
          <a:bodyPr wrap="square" lIns="0" tIns="0" rIns="0" bIns="0" rtlCol="0" anchor="ctr"/>
          <a:lstStyle/>
          <a:p>
            <a:pPr marL="0" indent="0" algn="ctr">
              <a:buNone/>
            </a:pPr>
            <a:r>
              <a:rPr lang="en-US" sz="900" b="1" kern="0" spc="200">
                <a:solidFill>
                  <a:srgbClr val="FFFFFF"/>
                </a:solidFill>
                <a:latin typeface="Calibri" pitchFamily="34" charset="0"/>
                <a:ea typeface="Calibri" pitchFamily="34" charset="-122"/>
                <a:cs typeface="Calibri" pitchFamily="34" charset="-120"/>
              </a:rPr>
              <a:t>PHASE 1: INDEXING</a:t>
            </a:r>
            <a:endParaRPr lang="en-US" sz="900"/>
          </a:p>
        </p:txBody>
      </p:sp>
      <p:sp>
        <p:nvSpPr>
          <p:cNvPr id="6" name="Shape 4"/>
          <p:cNvSpPr/>
          <p:nvPr/>
        </p:nvSpPr>
        <p:spPr>
          <a:xfrm>
            <a:off x="640080" y="1508760"/>
            <a:ext cx="155448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7" name="Text 5"/>
          <p:cNvSpPr/>
          <p:nvPr/>
        </p:nvSpPr>
        <p:spPr>
          <a:xfrm>
            <a:off x="731520" y="1508760"/>
            <a:ext cx="1371600" cy="777240"/>
          </a:xfrm>
          <a:prstGeom prst="rect">
            <a:avLst/>
          </a:prstGeom>
          <a:noFill/>
          <a:ln/>
        </p:spPr>
        <p:txBody>
          <a:bodyPr wrap="square" lIns="0" tIns="0" rIns="0" bIns="0" rtlCol="0" anchor="ctr"/>
          <a:lstStyle/>
          <a:p>
            <a:pPr marL="0" indent="0" algn="ctr">
              <a:buNone/>
            </a:pPr>
            <a:r>
              <a:rPr lang="en-US" sz="1000">
                <a:solidFill>
                  <a:srgbClr val="F1F5F9"/>
                </a:solidFill>
                <a:latin typeface="Calibri" pitchFamily="34" charset="0"/>
                <a:ea typeface="Calibri" pitchFamily="34" charset="-122"/>
                <a:cs typeface="Calibri" pitchFamily="34" charset="-120"/>
              </a:rPr>
              <a:t>Document</a:t>
            </a:r>
            <a:endParaRPr lang="en-US" sz="1000"/>
          </a:p>
          <a:p>
            <a:pPr marL="0" indent="0" algn="ctr">
              <a:buNone/>
            </a:pPr>
            <a:r>
              <a:rPr lang="en-US" sz="1000">
                <a:solidFill>
                  <a:srgbClr val="F1F5F9"/>
                </a:solidFill>
                <a:latin typeface="Calibri" pitchFamily="34" charset="0"/>
                <a:ea typeface="Calibri" pitchFamily="34" charset="-122"/>
                <a:cs typeface="Calibri" pitchFamily="34" charset="-120"/>
              </a:rPr>
              <a:t>Corpus (BEIR)</a:t>
            </a:r>
            <a:endParaRPr lang="en-US" sz="1000"/>
          </a:p>
        </p:txBody>
      </p:sp>
      <p:sp>
        <p:nvSpPr>
          <p:cNvPr id="8" name="Shape 6"/>
          <p:cNvSpPr/>
          <p:nvPr/>
        </p:nvSpPr>
        <p:spPr>
          <a:xfrm>
            <a:off x="2377440" y="1508760"/>
            <a:ext cx="155448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9" name="Text 7"/>
          <p:cNvSpPr/>
          <p:nvPr/>
        </p:nvSpPr>
        <p:spPr>
          <a:xfrm>
            <a:off x="2468880" y="1508760"/>
            <a:ext cx="1371600" cy="777240"/>
          </a:xfrm>
          <a:prstGeom prst="rect">
            <a:avLst/>
          </a:prstGeom>
          <a:noFill/>
          <a:ln/>
        </p:spPr>
        <p:txBody>
          <a:bodyPr wrap="square" lIns="0" tIns="0" rIns="0" bIns="0" rtlCol="0" anchor="ctr"/>
          <a:lstStyle/>
          <a:p>
            <a:pPr marL="0" indent="0" algn="ctr">
              <a:buNone/>
            </a:pPr>
            <a:r>
              <a:rPr lang="en-US" sz="1000">
                <a:solidFill>
                  <a:srgbClr val="F1F5F9"/>
                </a:solidFill>
                <a:latin typeface="Calibri" pitchFamily="34" charset="0"/>
                <a:ea typeface="Calibri" pitchFamily="34" charset="-122"/>
                <a:cs typeface="Calibri" pitchFamily="34" charset="-120"/>
              </a:rPr>
              <a:t>Text Cleaning</a:t>
            </a:r>
            <a:endParaRPr lang="en-US" sz="1000"/>
          </a:p>
          <a:p>
            <a:pPr marL="0" indent="0" algn="ctr">
              <a:buNone/>
            </a:pPr>
            <a:r>
              <a:rPr lang="en-US" sz="1000">
                <a:solidFill>
                  <a:srgbClr val="F1F5F9"/>
                </a:solidFill>
                <a:latin typeface="Calibri" pitchFamily="34" charset="0"/>
                <a:ea typeface="Calibri" pitchFamily="34" charset="-122"/>
                <a:cs typeface="Calibri" pitchFamily="34" charset="-120"/>
              </a:rPr>
              <a:t>&amp; Tokenisation</a:t>
            </a:r>
            <a:endParaRPr lang="en-US" sz="1000"/>
          </a:p>
        </p:txBody>
      </p:sp>
      <p:sp>
        <p:nvSpPr>
          <p:cNvPr id="10" name="Shape 8"/>
          <p:cNvSpPr/>
          <p:nvPr/>
        </p:nvSpPr>
        <p:spPr>
          <a:xfrm>
            <a:off x="4114800" y="1508760"/>
            <a:ext cx="155448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11" name="Text 9"/>
          <p:cNvSpPr/>
          <p:nvPr/>
        </p:nvSpPr>
        <p:spPr>
          <a:xfrm>
            <a:off x="4206240" y="1508760"/>
            <a:ext cx="1371600" cy="777240"/>
          </a:xfrm>
          <a:prstGeom prst="rect">
            <a:avLst/>
          </a:prstGeom>
          <a:noFill/>
          <a:ln/>
        </p:spPr>
        <p:txBody>
          <a:bodyPr wrap="square" lIns="0" tIns="0" rIns="0" bIns="0" rtlCol="0" anchor="ctr"/>
          <a:lstStyle/>
          <a:p>
            <a:pPr marL="0" indent="0" algn="ctr">
              <a:buNone/>
            </a:pPr>
            <a:r>
              <a:rPr lang="en-US" sz="1000">
                <a:solidFill>
                  <a:srgbClr val="F1F5F9"/>
                </a:solidFill>
                <a:latin typeface="Calibri" pitchFamily="34" charset="0"/>
                <a:ea typeface="Calibri" pitchFamily="34" charset="-122"/>
                <a:cs typeface="Calibri" pitchFamily="34" charset="-120"/>
              </a:rPr>
              <a:t>Elasticsearch</a:t>
            </a:r>
            <a:endParaRPr lang="en-US" sz="1000"/>
          </a:p>
          <a:p>
            <a:pPr marL="0" indent="0" algn="ctr">
              <a:buNone/>
            </a:pPr>
            <a:r>
              <a:rPr lang="en-US" sz="1000">
                <a:solidFill>
                  <a:srgbClr val="F1F5F9"/>
                </a:solidFill>
                <a:latin typeface="Calibri" pitchFamily="34" charset="0"/>
                <a:ea typeface="Calibri" pitchFamily="34" charset="-122"/>
                <a:cs typeface="Calibri" pitchFamily="34" charset="-120"/>
              </a:rPr>
              <a:t>BM25 Index</a:t>
            </a:r>
            <a:endParaRPr lang="en-US" sz="1000"/>
          </a:p>
        </p:txBody>
      </p:sp>
      <p:sp>
        <p:nvSpPr>
          <p:cNvPr id="12" name="Shape 10"/>
          <p:cNvSpPr/>
          <p:nvPr/>
        </p:nvSpPr>
        <p:spPr>
          <a:xfrm>
            <a:off x="5877855" y="1508760"/>
            <a:ext cx="155448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13" name="Text 11"/>
          <p:cNvSpPr/>
          <p:nvPr/>
        </p:nvSpPr>
        <p:spPr>
          <a:xfrm>
            <a:off x="5939067" y="1508760"/>
            <a:ext cx="1371600" cy="777240"/>
          </a:xfrm>
          <a:prstGeom prst="rect">
            <a:avLst/>
          </a:prstGeom>
          <a:noFill/>
          <a:ln/>
        </p:spPr>
        <p:txBody>
          <a:bodyPr wrap="square" lIns="0" tIns="0" rIns="0" bIns="0" rtlCol="0" anchor="ctr"/>
          <a:lstStyle/>
          <a:p>
            <a:pPr marL="0" indent="0" algn="ctr">
              <a:buNone/>
            </a:pPr>
            <a:r>
              <a:rPr lang="en-US" sz="1000">
                <a:solidFill>
                  <a:srgbClr val="F1F5F9"/>
                </a:solidFill>
                <a:latin typeface="Calibri" pitchFamily="34" charset="0"/>
                <a:ea typeface="Calibri" pitchFamily="34" charset="-122"/>
                <a:cs typeface="Calibri" pitchFamily="34" charset="-120"/>
              </a:rPr>
              <a:t>ColBERT</a:t>
            </a:r>
            <a:endParaRPr lang="en-US" sz="1000"/>
          </a:p>
          <a:p>
            <a:pPr marL="0" indent="0" algn="ctr">
              <a:buNone/>
            </a:pPr>
            <a:r>
              <a:rPr lang="en-US" sz="1000">
                <a:solidFill>
                  <a:srgbClr val="F1F5F9"/>
                </a:solidFill>
                <a:latin typeface="Calibri" pitchFamily="34" charset="0"/>
                <a:ea typeface="Calibri" pitchFamily="34" charset="-122"/>
                <a:cs typeface="Calibri" pitchFamily="34" charset="-120"/>
              </a:rPr>
              <a:t>Doc Encoding</a:t>
            </a:r>
            <a:endParaRPr lang="en-US" sz="1000"/>
          </a:p>
        </p:txBody>
      </p:sp>
      <p:pic>
        <p:nvPicPr>
          <p:cNvPr id="14" name="Image 0" descr="preencoded.png"/>
          <p:cNvPicPr>
            <a:picLocks noChangeAspect="1"/>
          </p:cNvPicPr>
          <p:nvPr/>
        </p:nvPicPr>
        <p:blipFill>
          <a:blip r:embed="rId3"/>
          <a:stretch>
            <a:fillRect/>
          </a:stretch>
        </p:blipFill>
        <p:spPr>
          <a:xfrm>
            <a:off x="2194560" y="1737360"/>
            <a:ext cx="182880" cy="182880"/>
          </a:xfrm>
          <a:prstGeom prst="rect">
            <a:avLst/>
          </a:prstGeom>
        </p:spPr>
      </p:pic>
      <p:pic>
        <p:nvPicPr>
          <p:cNvPr id="15" name="Image 1" descr="preencoded.png"/>
          <p:cNvPicPr>
            <a:picLocks noChangeAspect="1"/>
          </p:cNvPicPr>
          <p:nvPr/>
        </p:nvPicPr>
        <p:blipFill>
          <a:blip r:embed="rId3"/>
          <a:stretch>
            <a:fillRect/>
          </a:stretch>
        </p:blipFill>
        <p:spPr>
          <a:xfrm>
            <a:off x="3931920" y="1737360"/>
            <a:ext cx="182880" cy="182880"/>
          </a:xfrm>
          <a:prstGeom prst="rect">
            <a:avLst/>
          </a:prstGeom>
        </p:spPr>
      </p:pic>
      <p:pic>
        <p:nvPicPr>
          <p:cNvPr id="16" name="Image 2" descr="preencoded.png"/>
          <p:cNvPicPr>
            <a:picLocks noChangeAspect="1"/>
          </p:cNvPicPr>
          <p:nvPr/>
        </p:nvPicPr>
        <p:blipFill>
          <a:blip r:embed="rId3"/>
          <a:stretch>
            <a:fillRect/>
          </a:stretch>
        </p:blipFill>
        <p:spPr>
          <a:xfrm>
            <a:off x="5669280" y="1737360"/>
            <a:ext cx="182880" cy="182880"/>
          </a:xfrm>
          <a:prstGeom prst="rect">
            <a:avLst/>
          </a:prstGeom>
        </p:spPr>
      </p:pic>
      <p:sp>
        <p:nvSpPr>
          <p:cNvPr id="17" name="Text 12"/>
          <p:cNvSpPr/>
          <p:nvPr/>
        </p:nvSpPr>
        <p:spPr>
          <a:xfrm>
            <a:off x="4114800" y="2331720"/>
            <a:ext cx="1554480" cy="228600"/>
          </a:xfrm>
          <a:prstGeom prst="rect">
            <a:avLst/>
          </a:prstGeom>
          <a:noFill/>
          <a:ln/>
        </p:spPr>
        <p:txBody>
          <a:bodyPr wrap="square" lIns="0" tIns="0" rIns="0" bIns="0" rtlCol="0" anchor="ctr"/>
          <a:lstStyle/>
          <a:p>
            <a:pPr marL="0" indent="0" algn="ctr">
              <a:buNone/>
            </a:pPr>
            <a:r>
              <a:rPr lang="en-US" sz="800" i="1">
                <a:solidFill>
                  <a:srgbClr val="64748B"/>
                </a:solidFill>
                <a:latin typeface="Calibri" pitchFamily="34" charset="0"/>
                <a:ea typeface="Calibri" pitchFamily="34" charset="-122"/>
                <a:cs typeface="Calibri" pitchFamily="34" charset="-120"/>
              </a:rPr>
              <a:t>Inverted Index</a:t>
            </a:r>
            <a:endParaRPr lang="en-US" sz="800"/>
          </a:p>
        </p:txBody>
      </p:sp>
      <p:sp>
        <p:nvSpPr>
          <p:cNvPr id="18" name="Text 13"/>
          <p:cNvSpPr/>
          <p:nvPr/>
        </p:nvSpPr>
        <p:spPr>
          <a:xfrm>
            <a:off x="5953425" y="2331720"/>
            <a:ext cx="1554480" cy="228600"/>
          </a:xfrm>
          <a:prstGeom prst="rect">
            <a:avLst/>
          </a:prstGeom>
          <a:noFill/>
          <a:ln/>
        </p:spPr>
        <p:txBody>
          <a:bodyPr wrap="square" lIns="0" tIns="0" rIns="0" bIns="0" rtlCol="0" anchor="ctr"/>
          <a:lstStyle/>
          <a:p>
            <a:pPr marL="0" indent="0" algn="ctr">
              <a:buNone/>
            </a:pPr>
            <a:r>
              <a:rPr lang="en-US" sz="800" i="1">
                <a:solidFill>
                  <a:srgbClr val="64748B"/>
                </a:solidFill>
                <a:latin typeface="Calibri" pitchFamily="34" charset="0"/>
                <a:ea typeface="Calibri" pitchFamily="34" charset="-122"/>
                <a:cs typeface="Calibri" pitchFamily="34" charset="-120"/>
              </a:rPr>
              <a:t>Dense Vectors</a:t>
            </a:r>
            <a:endParaRPr lang="en-US" sz="800"/>
          </a:p>
        </p:txBody>
      </p:sp>
      <p:sp>
        <p:nvSpPr>
          <p:cNvPr id="19" name="Shape 14"/>
          <p:cNvSpPr/>
          <p:nvPr/>
        </p:nvSpPr>
        <p:spPr>
          <a:xfrm>
            <a:off x="640080" y="2834640"/>
            <a:ext cx="2011680" cy="292608"/>
          </a:xfrm>
          <a:prstGeom prst="rect">
            <a:avLst/>
          </a:prstGeom>
          <a:solidFill>
            <a:srgbClr val="06B6D4"/>
          </a:solidFill>
          <a:ln/>
        </p:spPr>
        <p:txBody>
          <a:bodyPr/>
          <a:lstStyle/>
          <a:p>
            <a:endParaRPr lang="en-US"/>
          </a:p>
        </p:txBody>
      </p:sp>
      <p:sp>
        <p:nvSpPr>
          <p:cNvPr id="20" name="Text 15"/>
          <p:cNvSpPr/>
          <p:nvPr/>
        </p:nvSpPr>
        <p:spPr>
          <a:xfrm>
            <a:off x="640080" y="2834640"/>
            <a:ext cx="2011680" cy="292608"/>
          </a:xfrm>
          <a:prstGeom prst="rect">
            <a:avLst/>
          </a:prstGeom>
          <a:noFill/>
          <a:ln/>
        </p:spPr>
        <p:txBody>
          <a:bodyPr wrap="square" lIns="0" tIns="0" rIns="0" bIns="0" rtlCol="0" anchor="ctr"/>
          <a:lstStyle/>
          <a:p>
            <a:pPr marL="0" indent="0" algn="ctr">
              <a:buNone/>
            </a:pPr>
            <a:r>
              <a:rPr lang="en-US" sz="900" b="1" kern="0" spc="200">
                <a:solidFill>
                  <a:srgbClr val="0F172A"/>
                </a:solidFill>
                <a:latin typeface="Calibri" pitchFamily="34" charset="0"/>
                <a:ea typeface="Calibri" pitchFamily="34" charset="-122"/>
                <a:cs typeface="Calibri" pitchFamily="34" charset="-120"/>
              </a:rPr>
              <a:t>PHASE 2: RETRIEVAL</a:t>
            </a:r>
            <a:endParaRPr lang="en-US" sz="900"/>
          </a:p>
        </p:txBody>
      </p:sp>
      <p:sp>
        <p:nvSpPr>
          <p:cNvPr id="21" name="Shape 16"/>
          <p:cNvSpPr/>
          <p:nvPr/>
        </p:nvSpPr>
        <p:spPr>
          <a:xfrm>
            <a:off x="640080" y="3337560"/>
            <a:ext cx="128016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22" name="Text 17"/>
          <p:cNvSpPr/>
          <p:nvPr/>
        </p:nvSpPr>
        <p:spPr>
          <a:xfrm>
            <a:off x="731520" y="3337560"/>
            <a:ext cx="1097280" cy="7772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User Query</a:t>
            </a:r>
            <a:endParaRPr lang="en-US" sz="1000"/>
          </a:p>
        </p:txBody>
      </p:sp>
      <p:sp>
        <p:nvSpPr>
          <p:cNvPr id="23" name="Shape 18"/>
          <p:cNvSpPr/>
          <p:nvPr/>
        </p:nvSpPr>
        <p:spPr>
          <a:xfrm>
            <a:off x="2377440" y="3337560"/>
            <a:ext cx="137160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24" name="Text 19"/>
          <p:cNvSpPr/>
          <p:nvPr/>
        </p:nvSpPr>
        <p:spPr>
          <a:xfrm>
            <a:off x="2468880" y="3337560"/>
            <a:ext cx="1188720" cy="7772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BM25</a:t>
            </a:r>
            <a:endParaRPr lang="en-US" sz="1000"/>
          </a:p>
          <a:p>
            <a:pPr marL="0" indent="0" algn="ctr">
              <a:buNone/>
            </a:pPr>
            <a:r>
              <a:rPr lang="en-US" sz="1000">
                <a:solidFill>
                  <a:srgbClr val="FFFFFF"/>
                </a:solidFill>
                <a:latin typeface="Calibri" pitchFamily="34" charset="0"/>
                <a:ea typeface="Calibri" pitchFamily="34" charset="-122"/>
                <a:cs typeface="Calibri" pitchFamily="34" charset="-120"/>
              </a:rPr>
              <a:t>Retrieval</a:t>
            </a:r>
            <a:endParaRPr lang="en-US" sz="1000"/>
          </a:p>
        </p:txBody>
      </p:sp>
      <p:sp>
        <p:nvSpPr>
          <p:cNvPr id="25" name="Shape 20"/>
          <p:cNvSpPr/>
          <p:nvPr/>
        </p:nvSpPr>
        <p:spPr>
          <a:xfrm>
            <a:off x="4114800" y="3337560"/>
            <a:ext cx="1371600" cy="77724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sp>
        <p:nvSpPr>
          <p:cNvPr id="26" name="Text 21"/>
          <p:cNvSpPr/>
          <p:nvPr/>
        </p:nvSpPr>
        <p:spPr>
          <a:xfrm>
            <a:off x="4206240" y="3337560"/>
            <a:ext cx="1188720" cy="7772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ColBERT</a:t>
            </a:r>
            <a:endParaRPr lang="en-US" sz="1000"/>
          </a:p>
          <a:p>
            <a:pPr marL="0" indent="0" algn="ctr">
              <a:buNone/>
            </a:pPr>
            <a:r>
              <a:rPr lang="en-US" sz="1000">
                <a:solidFill>
                  <a:srgbClr val="FFFFFF"/>
                </a:solidFill>
                <a:latin typeface="Calibri" pitchFamily="34" charset="0"/>
                <a:ea typeface="Calibri" pitchFamily="34" charset="-122"/>
                <a:cs typeface="Calibri" pitchFamily="34" charset="-120"/>
              </a:rPr>
              <a:t>Retrieval</a:t>
            </a:r>
            <a:endParaRPr lang="en-US" sz="1000"/>
          </a:p>
        </p:txBody>
      </p:sp>
      <p:sp>
        <p:nvSpPr>
          <p:cNvPr id="27" name="Shape 22"/>
          <p:cNvSpPr/>
          <p:nvPr/>
        </p:nvSpPr>
        <p:spPr>
          <a:xfrm>
            <a:off x="5943600" y="3337560"/>
            <a:ext cx="1188720" cy="777240"/>
          </a:xfrm>
          <a:prstGeom prst="rect">
            <a:avLst/>
          </a:prstGeom>
          <a:solidFill>
            <a:srgbClr val="0891B2"/>
          </a:solidFill>
          <a:ln/>
          <a:effectLst>
            <a:outerShdw blurRad="50800" dist="12700" dir="8100000" algn="bl" rotWithShape="0">
              <a:srgbClr val="000000">
                <a:alpha val="8000"/>
              </a:srgbClr>
            </a:outerShdw>
          </a:effectLst>
        </p:spPr>
        <p:txBody>
          <a:bodyPr/>
          <a:lstStyle/>
          <a:p>
            <a:endParaRPr lang="en-US"/>
          </a:p>
        </p:txBody>
      </p:sp>
      <p:sp>
        <p:nvSpPr>
          <p:cNvPr id="28" name="Text 23"/>
          <p:cNvSpPr/>
          <p:nvPr/>
        </p:nvSpPr>
        <p:spPr>
          <a:xfrm>
            <a:off x="6035040" y="3337560"/>
            <a:ext cx="1005840" cy="7772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RRF</a:t>
            </a:r>
            <a:endParaRPr lang="en-US" sz="1000"/>
          </a:p>
          <a:p>
            <a:pPr marL="0" indent="0" algn="ctr">
              <a:buNone/>
            </a:pPr>
            <a:r>
              <a:rPr lang="en-US" sz="1000" b="1">
                <a:solidFill>
                  <a:srgbClr val="FFFFFF"/>
                </a:solidFill>
                <a:latin typeface="Calibri" pitchFamily="34" charset="0"/>
                <a:ea typeface="Calibri" pitchFamily="34" charset="-122"/>
                <a:cs typeface="Calibri" pitchFamily="34" charset="-120"/>
              </a:rPr>
              <a:t>Fusion</a:t>
            </a:r>
            <a:endParaRPr lang="en-US" sz="1000"/>
          </a:p>
        </p:txBody>
      </p:sp>
      <p:sp>
        <p:nvSpPr>
          <p:cNvPr id="29" name="Shape 24"/>
          <p:cNvSpPr/>
          <p:nvPr/>
        </p:nvSpPr>
        <p:spPr>
          <a:xfrm>
            <a:off x="7498080" y="3337560"/>
            <a:ext cx="1188720" cy="777240"/>
          </a:xfrm>
          <a:prstGeom prst="rect">
            <a:avLst/>
          </a:prstGeom>
          <a:solidFill>
            <a:srgbClr val="10B981"/>
          </a:solidFill>
          <a:ln/>
          <a:effectLst>
            <a:outerShdw blurRad="50800" dist="12700" dir="8100000" algn="bl" rotWithShape="0">
              <a:srgbClr val="000000">
                <a:alpha val="8000"/>
              </a:srgbClr>
            </a:outerShdw>
          </a:effectLst>
        </p:spPr>
        <p:txBody>
          <a:bodyPr/>
          <a:lstStyle/>
          <a:p>
            <a:endParaRPr lang="en-US"/>
          </a:p>
        </p:txBody>
      </p:sp>
      <p:sp>
        <p:nvSpPr>
          <p:cNvPr id="30" name="Text 25"/>
          <p:cNvSpPr/>
          <p:nvPr/>
        </p:nvSpPr>
        <p:spPr>
          <a:xfrm>
            <a:off x="7589520" y="3337560"/>
            <a:ext cx="1005840" cy="7772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Final</a:t>
            </a:r>
            <a:endParaRPr lang="en-US" sz="1000"/>
          </a:p>
          <a:p>
            <a:pPr marL="0" indent="0" algn="ctr">
              <a:buNone/>
            </a:pPr>
            <a:r>
              <a:rPr lang="en-US" sz="1000" b="1">
                <a:solidFill>
                  <a:srgbClr val="FFFFFF"/>
                </a:solidFill>
                <a:latin typeface="Calibri" pitchFamily="34" charset="0"/>
                <a:ea typeface="Calibri" pitchFamily="34" charset="-122"/>
                <a:cs typeface="Calibri" pitchFamily="34" charset="-120"/>
              </a:rPr>
              <a:t>Ranked List</a:t>
            </a:r>
            <a:endParaRPr lang="en-US" sz="1000"/>
          </a:p>
        </p:txBody>
      </p:sp>
      <p:pic>
        <p:nvPicPr>
          <p:cNvPr id="31" name="Image 3" descr="preencoded.png"/>
          <p:cNvPicPr>
            <a:picLocks noChangeAspect="1"/>
          </p:cNvPicPr>
          <p:nvPr/>
        </p:nvPicPr>
        <p:blipFill>
          <a:blip r:embed="rId3"/>
          <a:stretch>
            <a:fillRect/>
          </a:stretch>
        </p:blipFill>
        <p:spPr>
          <a:xfrm>
            <a:off x="1965960" y="3584448"/>
            <a:ext cx="182880" cy="182880"/>
          </a:xfrm>
          <a:prstGeom prst="rect">
            <a:avLst/>
          </a:prstGeom>
        </p:spPr>
      </p:pic>
      <p:pic>
        <p:nvPicPr>
          <p:cNvPr id="32" name="Image 4" descr="preencoded.png"/>
          <p:cNvPicPr>
            <a:picLocks noChangeAspect="1"/>
          </p:cNvPicPr>
          <p:nvPr/>
        </p:nvPicPr>
        <p:blipFill>
          <a:blip r:embed="rId3"/>
          <a:stretch>
            <a:fillRect/>
          </a:stretch>
        </p:blipFill>
        <p:spPr>
          <a:xfrm>
            <a:off x="3749040" y="3584448"/>
            <a:ext cx="182880" cy="182880"/>
          </a:xfrm>
          <a:prstGeom prst="rect">
            <a:avLst/>
          </a:prstGeom>
        </p:spPr>
      </p:pic>
      <p:pic>
        <p:nvPicPr>
          <p:cNvPr id="33" name="Image 5" descr="preencoded.png"/>
          <p:cNvPicPr>
            <a:picLocks noChangeAspect="1"/>
          </p:cNvPicPr>
          <p:nvPr/>
        </p:nvPicPr>
        <p:blipFill>
          <a:blip r:embed="rId3"/>
          <a:stretch>
            <a:fillRect/>
          </a:stretch>
        </p:blipFill>
        <p:spPr>
          <a:xfrm>
            <a:off x="5532120" y="3584448"/>
            <a:ext cx="182880" cy="182880"/>
          </a:xfrm>
          <a:prstGeom prst="rect">
            <a:avLst/>
          </a:prstGeom>
        </p:spPr>
      </p:pic>
      <p:pic>
        <p:nvPicPr>
          <p:cNvPr id="34" name="Image 6" descr="preencoded.png"/>
          <p:cNvPicPr>
            <a:picLocks noChangeAspect="1"/>
          </p:cNvPicPr>
          <p:nvPr/>
        </p:nvPicPr>
        <p:blipFill>
          <a:blip r:embed="rId3"/>
          <a:stretch>
            <a:fillRect/>
          </a:stretch>
        </p:blipFill>
        <p:spPr>
          <a:xfrm>
            <a:off x="7178040" y="3584448"/>
            <a:ext cx="182880" cy="182880"/>
          </a:xfrm>
          <a:prstGeom prst="rect">
            <a:avLst/>
          </a:prstGeom>
        </p:spPr>
      </p:pic>
      <p:sp>
        <p:nvSpPr>
          <p:cNvPr id="35" name="Text 26"/>
          <p:cNvSpPr/>
          <p:nvPr/>
        </p:nvSpPr>
        <p:spPr>
          <a:xfrm>
            <a:off x="640080" y="4297680"/>
            <a:ext cx="7863840" cy="320040"/>
          </a:xfrm>
          <a:prstGeom prst="rect">
            <a:avLst/>
          </a:prstGeom>
          <a:noFill/>
          <a:ln/>
        </p:spPr>
        <p:txBody>
          <a:bodyPr wrap="square" lIns="0" tIns="0" rIns="0" bIns="0" rtlCol="0" anchor="ctr"/>
          <a:lstStyle/>
          <a:p>
            <a:pPr marL="0" indent="0">
              <a:buNone/>
            </a:pPr>
            <a:r>
              <a:rPr lang="en-US" sz="1100" i="1">
                <a:solidFill>
                  <a:srgbClr val="64748B"/>
                </a:solidFill>
                <a:latin typeface="Calibri" pitchFamily="34" charset="0"/>
                <a:ea typeface="Calibri" pitchFamily="34" charset="-122"/>
                <a:cs typeface="Calibri" pitchFamily="34" charset="-120"/>
              </a:rPr>
              <a:t>Both BM25 and ColBERT retrieve independently, then RRF merges by rank position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a:solidFill>
                  <a:srgbClr val="0F172A"/>
                </a:solidFill>
                <a:latin typeface="Trebuchet MS" pitchFamily="34" charset="0"/>
                <a:ea typeface="Trebuchet MS" pitchFamily="34" charset="-122"/>
                <a:cs typeface="Trebuchet MS" pitchFamily="34" charset="-120"/>
              </a:rPr>
              <a:t>Indexing Method</a:t>
            </a:r>
            <a:endParaRPr lang="en-US" sz="3000"/>
          </a:p>
        </p:txBody>
      </p:sp>
      <p:sp>
        <p:nvSpPr>
          <p:cNvPr id="3" name="Shape 1"/>
          <p:cNvSpPr/>
          <p:nvPr/>
        </p:nvSpPr>
        <p:spPr>
          <a:xfrm>
            <a:off x="640080" y="1188720"/>
            <a:ext cx="3749040" cy="3291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640080" y="1188720"/>
            <a:ext cx="3749040" cy="54864"/>
          </a:xfrm>
          <a:prstGeom prst="rect">
            <a:avLst/>
          </a:prstGeom>
          <a:solidFill>
            <a:srgbClr val="0891B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417320"/>
            <a:ext cx="320040" cy="320040"/>
          </a:xfrm>
          <a:prstGeom prst="rect">
            <a:avLst/>
          </a:prstGeom>
        </p:spPr>
      </p:pic>
      <p:sp>
        <p:nvSpPr>
          <p:cNvPr id="6" name="Text 3"/>
          <p:cNvSpPr/>
          <p:nvPr/>
        </p:nvSpPr>
        <p:spPr>
          <a:xfrm>
            <a:off x="1371600" y="1417320"/>
            <a:ext cx="2743200" cy="320040"/>
          </a:xfrm>
          <a:prstGeom prst="rect">
            <a:avLst/>
          </a:prstGeom>
          <a:noFill/>
          <a:ln/>
        </p:spPr>
        <p:txBody>
          <a:bodyPr wrap="square" lIns="0" tIns="0" rIns="0" bIns="0" rtlCol="0" anchor="ctr"/>
          <a:lstStyle/>
          <a:p>
            <a:pPr marL="0" indent="0">
              <a:buNone/>
            </a:pPr>
            <a:r>
              <a:rPr lang="en-US" sz="1600" b="1">
                <a:solidFill>
                  <a:srgbClr val="0F172A"/>
                </a:solidFill>
                <a:latin typeface="Trebuchet MS" pitchFamily="34" charset="0"/>
                <a:ea typeface="Trebuchet MS" pitchFamily="34" charset="-122"/>
                <a:cs typeface="Trebuchet MS" pitchFamily="34" charset="-120"/>
              </a:rPr>
              <a:t>BM25 — Elasticsearch</a:t>
            </a:r>
            <a:endParaRPr lang="en-US" sz="1600"/>
          </a:p>
        </p:txBody>
      </p:sp>
      <p:sp>
        <p:nvSpPr>
          <p:cNvPr id="7" name="Text 4"/>
          <p:cNvSpPr/>
          <p:nvPr/>
        </p:nvSpPr>
        <p:spPr>
          <a:xfrm>
            <a:off x="914400" y="1965960"/>
            <a:ext cx="3200400" cy="2286000"/>
          </a:xfrm>
          <a:prstGeom prst="rect">
            <a:avLst/>
          </a:prstGeom>
          <a:noFill/>
          <a:ln/>
        </p:spPr>
        <p:txBody>
          <a:bodyPr wrap="square" lIns="0" tIns="0" rIns="0" bIns="0" rtlCol="0" anchor="ctr"/>
          <a:lstStyle/>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Inverted index via Elasticsearch 7.9</a:t>
            </a:r>
            <a:endParaRPr lang="en-US" sz="1150"/>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Documents stored with title + text fields</a:t>
            </a:r>
            <a:endParaRPr lang="en-US" sz="1150"/>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BM25 as default similarity function</a:t>
            </a:r>
            <a:endParaRPr lang="en-US" sz="1150"/>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Parameters: k₁ = 0.9, b = 0.4</a:t>
            </a:r>
            <a:endParaRPr lang="en-US" sz="1150"/>
          </a:p>
          <a:p>
            <a:pPr marL="342900" indent="-342900">
              <a:spcAft>
                <a:spcPts val="600"/>
              </a:spcAft>
              <a:buSzPct val="100000"/>
              <a:buChar char="•"/>
            </a:pPr>
            <a:r>
              <a:rPr lang="en-US" sz="1150">
                <a:solidFill>
                  <a:srgbClr val="334155"/>
                </a:solidFill>
                <a:latin typeface="Calibri"/>
                <a:ea typeface="Calibri"/>
                <a:cs typeface="Calibri"/>
              </a:rPr>
              <a:t>Bulk indexing for efficiency on large corpora</a:t>
            </a:r>
            <a:endParaRPr lang="en-US" sz="1150"/>
          </a:p>
        </p:txBody>
      </p:sp>
      <p:sp>
        <p:nvSpPr>
          <p:cNvPr id="8" name="Shape 5"/>
          <p:cNvSpPr/>
          <p:nvPr/>
        </p:nvSpPr>
        <p:spPr>
          <a:xfrm>
            <a:off x="4754880" y="1188720"/>
            <a:ext cx="3749040" cy="3291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754880" y="1188720"/>
            <a:ext cx="3749040" cy="54864"/>
          </a:xfrm>
          <a:prstGeom prst="rect">
            <a:avLst/>
          </a:prstGeom>
          <a:solidFill>
            <a:srgbClr val="06B6D4"/>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029200" y="1417320"/>
            <a:ext cx="320040" cy="320040"/>
          </a:xfrm>
          <a:prstGeom prst="rect">
            <a:avLst/>
          </a:prstGeom>
        </p:spPr>
      </p:pic>
      <p:sp>
        <p:nvSpPr>
          <p:cNvPr id="11" name="Text 7"/>
          <p:cNvSpPr/>
          <p:nvPr/>
        </p:nvSpPr>
        <p:spPr>
          <a:xfrm>
            <a:off x="5486400" y="1417320"/>
            <a:ext cx="2743200" cy="320040"/>
          </a:xfrm>
          <a:prstGeom prst="rect">
            <a:avLst/>
          </a:prstGeom>
          <a:noFill/>
          <a:ln/>
        </p:spPr>
        <p:txBody>
          <a:bodyPr wrap="square" lIns="0" tIns="0" rIns="0" bIns="0" rtlCol="0" anchor="ctr"/>
          <a:lstStyle/>
          <a:p>
            <a:pPr marL="0" indent="0">
              <a:buNone/>
            </a:pPr>
            <a:r>
              <a:rPr lang="en-US" sz="1600" b="1">
                <a:solidFill>
                  <a:srgbClr val="0F172A"/>
                </a:solidFill>
                <a:latin typeface="Trebuchet MS" pitchFamily="34" charset="0"/>
                <a:ea typeface="Trebuchet MS" pitchFamily="34" charset="-122"/>
                <a:cs typeface="Trebuchet MS" pitchFamily="34" charset="-120"/>
              </a:rPr>
              <a:t>ColBERT — Dense Encoding</a:t>
            </a:r>
            <a:endParaRPr lang="en-US" sz="1600"/>
          </a:p>
        </p:txBody>
      </p:sp>
      <p:sp>
        <p:nvSpPr>
          <p:cNvPr id="12" name="Text 8"/>
          <p:cNvSpPr/>
          <p:nvPr/>
        </p:nvSpPr>
        <p:spPr>
          <a:xfrm>
            <a:off x="5029200" y="1965960"/>
            <a:ext cx="3200400" cy="2286000"/>
          </a:xfrm>
          <a:prstGeom prst="rect">
            <a:avLst/>
          </a:prstGeom>
          <a:noFill/>
          <a:ln/>
        </p:spPr>
        <p:txBody>
          <a:bodyPr wrap="square" lIns="0" tIns="0" rIns="0" bIns="0" rtlCol="0" anchor="ctr"/>
          <a:lstStyle/>
          <a:p>
            <a:pPr marL="342900" indent="-342900">
              <a:spcAft>
                <a:spcPts val="600"/>
              </a:spcAft>
              <a:buSzPct val="100000"/>
              <a:buChar char="•"/>
            </a:pPr>
            <a:r>
              <a:rPr lang="en-US" sz="1150">
                <a:solidFill>
                  <a:srgbClr val="334155"/>
                </a:solidFill>
                <a:latin typeface="Calibri"/>
                <a:ea typeface="Calibri"/>
                <a:cs typeface="Calibri"/>
              </a:rPr>
              <a:t>ColBERTv2.0 via </a:t>
            </a:r>
            <a:r>
              <a:rPr lang="en-US" sz="1150" err="1">
                <a:solidFill>
                  <a:srgbClr val="334155"/>
                </a:solidFill>
                <a:latin typeface="Calibri"/>
                <a:ea typeface="Calibri"/>
                <a:cs typeface="Calibri"/>
              </a:rPr>
              <a:t>RAGatouille</a:t>
            </a:r>
            <a:r>
              <a:rPr lang="en-US" sz="1150">
                <a:solidFill>
                  <a:srgbClr val="334155"/>
                </a:solidFill>
                <a:latin typeface="Calibri"/>
                <a:ea typeface="Calibri"/>
                <a:cs typeface="Calibri"/>
              </a:rPr>
              <a:t> library</a:t>
            </a:r>
            <a:endParaRPr lang="en-US" sz="1150">
              <a:latin typeface="Calibri"/>
              <a:ea typeface="Calibri"/>
              <a:cs typeface="Calibri"/>
            </a:endParaRPr>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Pre-trained on MS MARCO (zero-shot)</a:t>
            </a:r>
            <a:endParaRPr lang="en-US" sz="1150"/>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Token-level embeddings preserved</a:t>
            </a:r>
            <a:endParaRPr lang="en-US" sz="1150"/>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Late interaction with MaxSim scoring</a:t>
            </a:r>
            <a:endParaRPr lang="en-US" sz="1150"/>
          </a:p>
          <a:p>
            <a:pPr marL="342900" indent="-342900">
              <a:spcAft>
                <a:spcPts val="600"/>
              </a:spcAft>
              <a:buSzPct val="100000"/>
              <a:buChar char="•"/>
            </a:pPr>
            <a:r>
              <a:rPr lang="en-US" sz="1150">
                <a:solidFill>
                  <a:srgbClr val="334155"/>
                </a:solidFill>
                <a:latin typeface="Calibri" pitchFamily="34" charset="0"/>
                <a:ea typeface="Calibri" pitchFamily="34" charset="-122"/>
                <a:cs typeface="Calibri" pitchFamily="34" charset="-120"/>
              </a:rPr>
              <a:t>Max document length: 180 tokens</a:t>
            </a:r>
            <a:endParaRPr lang="en-US" sz="11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a:solidFill>
                  <a:srgbClr val="0F172A"/>
                </a:solidFill>
                <a:latin typeface="Trebuchet MS" pitchFamily="34" charset="0"/>
                <a:ea typeface="Trebuchet MS" pitchFamily="34" charset="-122"/>
                <a:cs typeface="Trebuchet MS" pitchFamily="34" charset="-120"/>
              </a:rPr>
              <a:t>Evaluation Strategy</a:t>
            </a:r>
            <a:endParaRPr lang="en-US" sz="3000"/>
          </a:p>
        </p:txBody>
      </p:sp>
      <p:sp>
        <p:nvSpPr>
          <p:cNvPr id="3" name="Text 1"/>
          <p:cNvSpPr/>
          <p:nvPr/>
        </p:nvSpPr>
        <p:spPr>
          <a:xfrm>
            <a:off x="640080" y="914400"/>
            <a:ext cx="8229600" cy="274320"/>
          </a:xfrm>
          <a:prstGeom prst="rect">
            <a:avLst/>
          </a:prstGeom>
          <a:noFill/>
          <a:ln/>
        </p:spPr>
        <p:txBody>
          <a:bodyPr wrap="square" lIns="0" tIns="0" rIns="0" bIns="0" rtlCol="0" anchor="ctr"/>
          <a:lstStyle/>
          <a:p>
            <a:pPr marL="0" indent="0">
              <a:buNone/>
            </a:pPr>
            <a:r>
              <a:rPr lang="en-US" sz="1300">
                <a:solidFill>
                  <a:srgbClr val="64748B"/>
                </a:solidFill>
                <a:latin typeface="Calibri" pitchFamily="34" charset="0"/>
                <a:ea typeface="Calibri" pitchFamily="34" charset="-122"/>
                <a:cs typeface="Calibri" pitchFamily="34" charset="-120"/>
              </a:rPr>
              <a:t>Zero-shot setting — no domain-specific fine-tuning on any dataset</a:t>
            </a:r>
            <a:endParaRPr lang="en-US" sz="1300"/>
          </a:p>
        </p:txBody>
      </p:sp>
      <p:sp>
        <p:nvSpPr>
          <p:cNvPr id="4" name="Shape 2"/>
          <p:cNvSpPr/>
          <p:nvPr/>
        </p:nvSpPr>
        <p:spPr>
          <a:xfrm>
            <a:off x="640080" y="1463040"/>
            <a:ext cx="251460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640080" y="1463040"/>
            <a:ext cx="2514600" cy="54864"/>
          </a:xfrm>
          <a:prstGeom prst="rect">
            <a:avLst/>
          </a:prstGeom>
          <a:solidFill>
            <a:srgbClr val="0891B2"/>
          </a:solidFill>
          <a:ln/>
        </p:spPr>
        <p:txBody>
          <a:bodyPr/>
          <a:lstStyle/>
          <a:p>
            <a:endParaRPr lang="en-US"/>
          </a:p>
        </p:txBody>
      </p:sp>
      <p:sp>
        <p:nvSpPr>
          <p:cNvPr id="6" name="Text 4"/>
          <p:cNvSpPr/>
          <p:nvPr/>
        </p:nvSpPr>
        <p:spPr>
          <a:xfrm>
            <a:off x="822960" y="1691640"/>
            <a:ext cx="2148840" cy="411480"/>
          </a:xfrm>
          <a:prstGeom prst="rect">
            <a:avLst/>
          </a:prstGeom>
          <a:noFill/>
          <a:ln/>
        </p:spPr>
        <p:txBody>
          <a:bodyPr wrap="square" lIns="0" tIns="0" rIns="0" bIns="0" rtlCol="0" anchor="ctr"/>
          <a:lstStyle/>
          <a:p>
            <a:pPr marL="0" indent="0">
              <a:buNone/>
            </a:pPr>
            <a:r>
              <a:rPr lang="en-US" sz="2000" b="1">
                <a:solidFill>
                  <a:srgbClr val="0F172A"/>
                </a:solidFill>
                <a:latin typeface="Trebuchet MS" pitchFamily="34" charset="0"/>
                <a:ea typeface="Trebuchet MS" pitchFamily="34" charset="-122"/>
                <a:cs typeface="Trebuchet MS" pitchFamily="34" charset="-120"/>
              </a:rPr>
              <a:t>nDCG@10</a:t>
            </a:r>
            <a:endParaRPr lang="en-US" sz="2000"/>
          </a:p>
        </p:txBody>
      </p:sp>
      <p:sp>
        <p:nvSpPr>
          <p:cNvPr id="7" name="Shape 5"/>
          <p:cNvSpPr/>
          <p:nvPr/>
        </p:nvSpPr>
        <p:spPr>
          <a:xfrm>
            <a:off x="822960" y="2148840"/>
            <a:ext cx="1645920" cy="228600"/>
          </a:xfrm>
          <a:prstGeom prst="rect">
            <a:avLst/>
          </a:prstGeom>
          <a:solidFill>
            <a:srgbClr val="0891B2">
              <a:alpha val="15000"/>
            </a:srgbClr>
          </a:solidFill>
          <a:ln/>
        </p:spPr>
        <p:txBody>
          <a:bodyPr/>
          <a:lstStyle/>
          <a:p>
            <a:endParaRPr lang="en-US"/>
          </a:p>
        </p:txBody>
      </p:sp>
      <p:sp>
        <p:nvSpPr>
          <p:cNvPr id="8" name="Text 6"/>
          <p:cNvSpPr/>
          <p:nvPr/>
        </p:nvSpPr>
        <p:spPr>
          <a:xfrm>
            <a:off x="822960" y="2148840"/>
            <a:ext cx="1645920" cy="228600"/>
          </a:xfrm>
          <a:prstGeom prst="rect">
            <a:avLst/>
          </a:prstGeom>
          <a:noFill/>
          <a:ln/>
        </p:spPr>
        <p:txBody>
          <a:bodyPr wrap="square" lIns="0" tIns="0" rIns="0" bIns="0" rtlCol="0" anchor="ctr"/>
          <a:lstStyle/>
          <a:p>
            <a:pPr marL="0" indent="0" algn="ctr">
              <a:buNone/>
            </a:pPr>
            <a:r>
              <a:rPr lang="en-US" sz="800" b="1" kern="0" spc="150">
                <a:solidFill>
                  <a:srgbClr val="0891B2"/>
                </a:solidFill>
                <a:latin typeface="Calibri" pitchFamily="34" charset="0"/>
                <a:ea typeface="Calibri" pitchFamily="34" charset="-122"/>
                <a:cs typeface="Calibri" pitchFamily="34" charset="-120"/>
              </a:rPr>
              <a:t>PRIMARY METRIC</a:t>
            </a:r>
            <a:endParaRPr lang="en-US" sz="800"/>
          </a:p>
        </p:txBody>
      </p:sp>
      <p:sp>
        <p:nvSpPr>
          <p:cNvPr id="9" name="Text 7"/>
          <p:cNvSpPr/>
          <p:nvPr/>
        </p:nvSpPr>
        <p:spPr>
          <a:xfrm>
            <a:off x="822960" y="2560320"/>
            <a:ext cx="2148840" cy="16459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Measures graded ranking quality in top 10 results. Rewards highly relevant documents placed near the top. Normalised for fair comparison across queries.</a:t>
            </a:r>
            <a:endParaRPr lang="en-US" sz="1100"/>
          </a:p>
        </p:txBody>
      </p:sp>
      <p:sp>
        <p:nvSpPr>
          <p:cNvPr id="10" name="Shape 8"/>
          <p:cNvSpPr/>
          <p:nvPr/>
        </p:nvSpPr>
        <p:spPr>
          <a:xfrm>
            <a:off x="3383280" y="1463040"/>
            <a:ext cx="251460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383280" y="1463040"/>
            <a:ext cx="2514600" cy="54864"/>
          </a:xfrm>
          <a:prstGeom prst="rect">
            <a:avLst/>
          </a:prstGeom>
          <a:solidFill>
            <a:srgbClr val="F59E0B"/>
          </a:solidFill>
          <a:ln/>
        </p:spPr>
        <p:txBody>
          <a:bodyPr/>
          <a:lstStyle/>
          <a:p>
            <a:endParaRPr lang="en-US"/>
          </a:p>
        </p:txBody>
      </p:sp>
      <p:sp>
        <p:nvSpPr>
          <p:cNvPr id="12" name="Text 10"/>
          <p:cNvSpPr/>
          <p:nvPr/>
        </p:nvSpPr>
        <p:spPr>
          <a:xfrm>
            <a:off x="3566160" y="1691640"/>
            <a:ext cx="2148840" cy="411480"/>
          </a:xfrm>
          <a:prstGeom prst="rect">
            <a:avLst/>
          </a:prstGeom>
          <a:noFill/>
          <a:ln/>
        </p:spPr>
        <p:txBody>
          <a:bodyPr wrap="square" lIns="0" tIns="0" rIns="0" bIns="0" rtlCol="0" anchor="ctr"/>
          <a:lstStyle/>
          <a:p>
            <a:pPr marL="0" indent="0">
              <a:buNone/>
            </a:pPr>
            <a:r>
              <a:rPr lang="en-US" sz="2000" b="1">
                <a:solidFill>
                  <a:srgbClr val="0F172A"/>
                </a:solidFill>
                <a:latin typeface="Trebuchet MS" pitchFamily="34" charset="0"/>
                <a:ea typeface="Trebuchet MS" pitchFamily="34" charset="-122"/>
                <a:cs typeface="Trebuchet MS" pitchFamily="34" charset="-120"/>
              </a:rPr>
              <a:t>MRR@10</a:t>
            </a:r>
            <a:endParaRPr lang="en-US" sz="2000"/>
          </a:p>
        </p:txBody>
      </p:sp>
      <p:sp>
        <p:nvSpPr>
          <p:cNvPr id="13" name="Shape 11"/>
          <p:cNvSpPr/>
          <p:nvPr/>
        </p:nvSpPr>
        <p:spPr>
          <a:xfrm>
            <a:off x="3566160" y="2148840"/>
            <a:ext cx="1645920" cy="228600"/>
          </a:xfrm>
          <a:prstGeom prst="rect">
            <a:avLst/>
          </a:prstGeom>
          <a:solidFill>
            <a:srgbClr val="F59E0B">
              <a:alpha val="15000"/>
            </a:srgbClr>
          </a:solidFill>
          <a:ln/>
        </p:spPr>
        <p:txBody>
          <a:bodyPr/>
          <a:lstStyle/>
          <a:p>
            <a:endParaRPr lang="en-US"/>
          </a:p>
        </p:txBody>
      </p:sp>
      <p:sp>
        <p:nvSpPr>
          <p:cNvPr id="14" name="Text 12"/>
          <p:cNvSpPr/>
          <p:nvPr/>
        </p:nvSpPr>
        <p:spPr>
          <a:xfrm>
            <a:off x="3566160" y="2148840"/>
            <a:ext cx="1645920" cy="228600"/>
          </a:xfrm>
          <a:prstGeom prst="rect">
            <a:avLst/>
          </a:prstGeom>
          <a:noFill/>
          <a:ln/>
        </p:spPr>
        <p:txBody>
          <a:bodyPr wrap="square" lIns="0" tIns="0" rIns="0" bIns="0" rtlCol="0" anchor="ctr"/>
          <a:lstStyle/>
          <a:p>
            <a:pPr marL="0" indent="0" algn="ctr">
              <a:buNone/>
            </a:pPr>
            <a:r>
              <a:rPr lang="en-US" sz="800" b="1" kern="0" spc="150">
                <a:solidFill>
                  <a:srgbClr val="F59E0B"/>
                </a:solidFill>
                <a:latin typeface="Calibri" pitchFamily="34" charset="0"/>
                <a:ea typeface="Calibri" pitchFamily="34" charset="-122"/>
                <a:cs typeface="Calibri" pitchFamily="34" charset="-120"/>
              </a:rPr>
              <a:t>EARLY PRECISION</a:t>
            </a:r>
            <a:endParaRPr lang="en-US" sz="800"/>
          </a:p>
        </p:txBody>
      </p:sp>
      <p:sp>
        <p:nvSpPr>
          <p:cNvPr id="15" name="Text 13"/>
          <p:cNvSpPr/>
          <p:nvPr/>
        </p:nvSpPr>
        <p:spPr>
          <a:xfrm>
            <a:off x="3566160" y="2560320"/>
            <a:ext cx="2148840" cy="16459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Reciprocal rank of the first relevant document within top 10. Captures how quickly a user encounters a useful result.</a:t>
            </a:r>
            <a:endParaRPr lang="en-US" sz="1100"/>
          </a:p>
        </p:txBody>
      </p:sp>
      <p:sp>
        <p:nvSpPr>
          <p:cNvPr id="16" name="Shape 14"/>
          <p:cNvSpPr/>
          <p:nvPr/>
        </p:nvSpPr>
        <p:spPr>
          <a:xfrm>
            <a:off x="6126480" y="1463040"/>
            <a:ext cx="2514600" cy="29260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5"/>
          <p:cNvSpPr/>
          <p:nvPr/>
        </p:nvSpPr>
        <p:spPr>
          <a:xfrm>
            <a:off x="6126480" y="1463040"/>
            <a:ext cx="2514600" cy="54864"/>
          </a:xfrm>
          <a:prstGeom prst="rect">
            <a:avLst/>
          </a:prstGeom>
          <a:solidFill>
            <a:srgbClr val="F97316"/>
          </a:solidFill>
          <a:ln/>
        </p:spPr>
        <p:txBody>
          <a:bodyPr/>
          <a:lstStyle/>
          <a:p>
            <a:endParaRPr lang="en-US"/>
          </a:p>
        </p:txBody>
      </p:sp>
      <p:sp>
        <p:nvSpPr>
          <p:cNvPr id="18" name="Text 16"/>
          <p:cNvSpPr/>
          <p:nvPr/>
        </p:nvSpPr>
        <p:spPr>
          <a:xfrm>
            <a:off x="6309360" y="1691640"/>
            <a:ext cx="2148840" cy="411480"/>
          </a:xfrm>
          <a:prstGeom prst="rect">
            <a:avLst/>
          </a:prstGeom>
          <a:noFill/>
          <a:ln/>
        </p:spPr>
        <p:txBody>
          <a:bodyPr wrap="square" lIns="0" tIns="0" rIns="0" bIns="0" rtlCol="0" anchor="ctr"/>
          <a:lstStyle/>
          <a:p>
            <a:pPr marL="0" indent="0">
              <a:buNone/>
            </a:pPr>
            <a:r>
              <a:rPr lang="en-US" sz="2000" b="1">
                <a:solidFill>
                  <a:srgbClr val="0F172A"/>
                </a:solidFill>
                <a:latin typeface="Trebuchet MS" pitchFamily="34" charset="0"/>
                <a:ea typeface="Trebuchet MS" pitchFamily="34" charset="-122"/>
                <a:cs typeface="Trebuchet MS" pitchFamily="34" charset="-120"/>
              </a:rPr>
              <a:t>Recall@100</a:t>
            </a:r>
            <a:endParaRPr lang="en-US" sz="2000"/>
          </a:p>
        </p:txBody>
      </p:sp>
      <p:sp>
        <p:nvSpPr>
          <p:cNvPr id="19" name="Shape 17"/>
          <p:cNvSpPr/>
          <p:nvPr/>
        </p:nvSpPr>
        <p:spPr>
          <a:xfrm>
            <a:off x="6309360" y="2148840"/>
            <a:ext cx="1645920" cy="228600"/>
          </a:xfrm>
          <a:prstGeom prst="rect">
            <a:avLst/>
          </a:prstGeom>
          <a:solidFill>
            <a:srgbClr val="F97316">
              <a:alpha val="15000"/>
            </a:srgbClr>
          </a:solidFill>
          <a:ln/>
        </p:spPr>
        <p:txBody>
          <a:bodyPr/>
          <a:lstStyle/>
          <a:p>
            <a:endParaRPr lang="en-US"/>
          </a:p>
        </p:txBody>
      </p:sp>
      <p:sp>
        <p:nvSpPr>
          <p:cNvPr id="20" name="Text 18"/>
          <p:cNvSpPr/>
          <p:nvPr/>
        </p:nvSpPr>
        <p:spPr>
          <a:xfrm>
            <a:off x="6309360" y="2148840"/>
            <a:ext cx="1645920" cy="228600"/>
          </a:xfrm>
          <a:prstGeom prst="rect">
            <a:avLst/>
          </a:prstGeom>
          <a:noFill/>
          <a:ln/>
        </p:spPr>
        <p:txBody>
          <a:bodyPr wrap="square" lIns="0" tIns="0" rIns="0" bIns="0" rtlCol="0" anchor="ctr"/>
          <a:lstStyle/>
          <a:p>
            <a:pPr marL="0" indent="0" algn="ctr">
              <a:buNone/>
            </a:pPr>
            <a:r>
              <a:rPr lang="en-US" sz="800" b="1" kern="0" spc="150">
                <a:solidFill>
                  <a:srgbClr val="F97316"/>
                </a:solidFill>
                <a:latin typeface="Calibri" pitchFamily="34" charset="0"/>
                <a:ea typeface="Calibri" pitchFamily="34" charset="-122"/>
                <a:cs typeface="Calibri" pitchFamily="34" charset="-120"/>
              </a:rPr>
              <a:t>COVERAGE</a:t>
            </a:r>
            <a:endParaRPr lang="en-US" sz="800"/>
          </a:p>
        </p:txBody>
      </p:sp>
      <p:sp>
        <p:nvSpPr>
          <p:cNvPr id="21" name="Text 19"/>
          <p:cNvSpPr/>
          <p:nvPr/>
        </p:nvSpPr>
        <p:spPr>
          <a:xfrm>
            <a:off x="6309360" y="2560320"/>
            <a:ext cx="2148840" cy="1645920"/>
          </a:xfrm>
          <a:prstGeom prst="rect">
            <a:avLst/>
          </a:prstGeom>
          <a:noFill/>
          <a:ln/>
        </p:spPr>
        <p:txBody>
          <a:bodyPr wrap="square" lIns="0" tIns="0" rIns="0" bIns="0" rtlCol="0" anchor="ctr"/>
          <a:lstStyle/>
          <a:p>
            <a:pPr marL="0" indent="0">
              <a:buNone/>
            </a:pPr>
            <a:r>
              <a:rPr lang="en-US" sz="1100">
                <a:solidFill>
                  <a:srgbClr val="334155"/>
                </a:solidFill>
                <a:latin typeface="Calibri" pitchFamily="34" charset="0"/>
                <a:ea typeface="Calibri" pitchFamily="34" charset="-122"/>
                <a:cs typeface="Calibri" pitchFamily="34" charset="-120"/>
              </a:rPr>
              <a:t>Proportion of relevant documents retrieved within top 100. Measures whether the system can surface relevant documents at all.</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US"/>
          </a:p>
        </p:txBody>
      </p:sp>
      <p:sp>
        <p:nvSpPr>
          <p:cNvPr id="3" name="Text 1"/>
          <p:cNvSpPr/>
          <p:nvPr/>
        </p:nvSpPr>
        <p:spPr>
          <a:xfrm>
            <a:off x="640080" y="274320"/>
            <a:ext cx="54864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pitchFamily="34" charset="0"/>
                <a:ea typeface="Trebuchet MS" pitchFamily="34" charset="-122"/>
                <a:cs typeface="Trebuchet MS" pitchFamily="34" charset="-120"/>
              </a:rPr>
              <a:t>Results — HotpotQA</a:t>
            </a:r>
            <a:endParaRPr lang="en-US" sz="3000"/>
          </a:p>
        </p:txBody>
      </p:sp>
      <p:sp>
        <p:nvSpPr>
          <p:cNvPr id="4" name="Text 2"/>
          <p:cNvSpPr/>
          <p:nvPr/>
        </p:nvSpPr>
        <p:spPr>
          <a:xfrm>
            <a:off x="640080" y="777240"/>
            <a:ext cx="7315200" cy="274320"/>
          </a:xfrm>
          <a:prstGeom prst="rect">
            <a:avLst/>
          </a:prstGeom>
          <a:noFill/>
          <a:ln/>
        </p:spPr>
        <p:txBody>
          <a:bodyPr wrap="square" lIns="0" tIns="0" rIns="0" bIns="0" rtlCol="0" anchor="ctr"/>
          <a:lstStyle/>
          <a:p>
            <a:pPr marL="0" indent="0">
              <a:buNone/>
            </a:pPr>
            <a:r>
              <a:rPr lang="en-US" sz="1100">
                <a:solidFill>
                  <a:srgbClr val="64748B"/>
                </a:solidFill>
                <a:latin typeface="Calibri" pitchFamily="34" charset="0"/>
                <a:ea typeface="Calibri" pitchFamily="34" charset="-122"/>
                <a:cs typeface="Calibri" pitchFamily="34" charset="-120"/>
              </a:rPr>
              <a:t>7,405 queries  ·  ~55K document subset </a:t>
            </a:r>
          </a:p>
        </p:txBody>
      </p:sp>
      <p:graphicFrame>
        <p:nvGraphicFramePr>
          <p:cNvPr id="10" name="Table 0"/>
          <p:cNvGraphicFramePr>
            <a:graphicFrameLocks noGrp="1"/>
          </p:cNvGraphicFramePr>
          <p:nvPr>
            <p:extLst>
              <p:ext uri="{D42A27DB-BD31-4B8C-83A1-F6EECF244321}">
                <p14:modId xmlns:p14="http://schemas.microsoft.com/office/powerpoint/2010/main" val="97187682"/>
              </p:ext>
            </p:extLst>
          </p:nvPr>
        </p:nvGraphicFramePr>
        <p:xfrm>
          <a:off x="640080" y="1280159"/>
          <a:ext cx="7863840" cy="2927772"/>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731943">
                <a:tc>
                  <a:txBody>
                    <a:bodyPr/>
                    <a:lstStyle/>
                    <a:p>
                      <a:pPr marL="0" indent="0">
                        <a:buNone/>
                      </a:pPr>
                      <a:r>
                        <a:rPr lang="en-US" sz="1300" b="1">
                          <a:solidFill>
                            <a:srgbClr val="FFFFFF"/>
                          </a:solidFill>
                          <a:latin typeface="Calibri"/>
                          <a:ea typeface="Calibri"/>
                          <a:cs typeface="Calibri"/>
                        </a:rPr>
                        <a:t>Method</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nDCG@10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MRR@10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Recall@100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731943">
                <a:tc>
                  <a:txBody>
                    <a:bodyPr/>
                    <a:lstStyle/>
                    <a:p>
                      <a:pPr marL="0" indent="0">
                        <a:buNone/>
                      </a:pPr>
                      <a:r>
                        <a:rPr lang="en-US" sz="1300" b="1">
                          <a:solidFill>
                            <a:srgbClr val="F1F5F9"/>
                          </a:solidFill>
                          <a:latin typeface="Calibri"/>
                          <a:ea typeface="Calibri"/>
                          <a:cs typeface="Calibri"/>
                        </a:rPr>
                        <a:t>BM25</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pitchFamily="34" charset="-122"/>
                          <a:cs typeface="Consolas" pitchFamily="34" charset="-120"/>
                        </a:rPr>
                        <a:t>0.8120</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pitchFamily="34" charset="-122"/>
                          <a:cs typeface="Consolas" pitchFamily="34" charset="-120"/>
                        </a:rPr>
                        <a:t>0.9356</a:t>
                      </a:r>
                      <a:endParaRPr lang="en-US" sz="1300" b="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pitchFamily="34" charset="-122"/>
                          <a:cs typeface="Consolas" pitchFamily="34" charset="-120"/>
                        </a:rPr>
                        <a:t>0.9211</a:t>
                      </a:r>
                      <a:endParaRPr lang="en-US" sz="1300" b="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731943">
                <a:tc>
                  <a:txBody>
                    <a:bodyPr/>
                    <a:lstStyle/>
                    <a:p>
                      <a:pPr marL="0" indent="0">
                        <a:buNone/>
                      </a:pPr>
                      <a:r>
                        <a:rPr lang="en-US" sz="1300" b="1" err="1">
                          <a:solidFill>
                            <a:srgbClr val="F1F5F9"/>
                          </a:solidFill>
                          <a:latin typeface="Calibri"/>
                          <a:ea typeface="Calibri"/>
                          <a:cs typeface="Calibri"/>
                        </a:rPr>
                        <a:t>ColBERT</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F1F5F9"/>
                          </a:solidFill>
                          <a:latin typeface="Consolas"/>
                          <a:ea typeface="Consolas" charset="0"/>
                          <a:cs typeface="Consolas" pitchFamily="34" charset="-120"/>
                        </a:rPr>
                        <a:t>0.8575</a:t>
                      </a:r>
                      <a:endParaRPr lang="en-US" sz="1300" b="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pitchFamily="34" charset="-122"/>
                          <a:cs typeface="Consolas" pitchFamily="34" charset="-120"/>
                        </a:rPr>
                        <a:t>0.9770</a:t>
                      </a:r>
                      <a:endParaRPr lang="en-US" sz="1300" b="0">
                        <a:solidFill>
                          <a:srgbClr val="00B0F0"/>
                        </a:solidFill>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F1F5F9"/>
                          </a:solidFill>
                          <a:latin typeface="Consolas"/>
                          <a:ea typeface="Consolas" pitchFamily="34" charset="-122"/>
                          <a:cs typeface="Consolas" pitchFamily="34" charset="-120"/>
                        </a:rPr>
                        <a:t>0.9356</a:t>
                      </a:r>
                      <a:endParaRPr lang="en-US" sz="1300" b="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extLst>
                  <a:ext uri="{0D108BD9-81ED-4DB2-BD59-A6C34878D82A}">
                    <a16:rowId xmlns:a16="http://schemas.microsoft.com/office/drawing/2014/main" val="10002"/>
                  </a:ext>
                </a:extLst>
              </a:tr>
              <a:tr h="731943">
                <a:tc>
                  <a:txBody>
                    <a:bodyPr/>
                    <a:lstStyle/>
                    <a:p>
                      <a:pPr marL="0" indent="0">
                        <a:buNone/>
                      </a:pPr>
                      <a:r>
                        <a:rPr lang="en-US" sz="1300" b="1">
                          <a:solidFill>
                            <a:schemeClr val="bg1"/>
                          </a:solidFill>
                          <a:latin typeface="Calibri"/>
                          <a:ea typeface="Calibri"/>
                          <a:cs typeface="Calibri"/>
                        </a:rPr>
                        <a:t>RRF Hybrid</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rgbClr val="06B6D4"/>
                          </a:solidFill>
                          <a:latin typeface="Consolas"/>
                          <a:ea typeface="Consolas" pitchFamily="34" charset="-122"/>
                          <a:cs typeface="Consolas" pitchFamily="34" charset="-120"/>
                        </a:rPr>
                        <a:t>0.8645</a:t>
                      </a:r>
                      <a:endParaRPr lang="en-US" sz="1300" b="0" dirty="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chemeClr val="bg1"/>
                          </a:solidFill>
                          <a:latin typeface="Consolas"/>
                          <a:ea typeface="Consolas" pitchFamily="34" charset="-122"/>
                          <a:cs typeface="Consolas" pitchFamily="34" charset="-120"/>
                        </a:rPr>
                        <a:t>0.9709</a:t>
                      </a:r>
                      <a:endParaRPr lang="en-US" sz="1300" b="0">
                        <a:solidFill>
                          <a:schemeClr val="bg1"/>
                        </a:solidFill>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rgbClr val="06B6D4"/>
                          </a:solidFill>
                          <a:latin typeface="Consolas"/>
                          <a:ea typeface="Consolas" pitchFamily="34" charset="-122"/>
                          <a:cs typeface="Consolas" pitchFamily="34" charset="-120"/>
                        </a:rPr>
                        <a:t>0.9490</a:t>
                      </a:r>
                      <a:endParaRPr lang="en-US" sz="1300" b="0" dirty="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6" name="Text 3"/>
          <p:cNvSpPr/>
          <p:nvPr/>
        </p:nvSpPr>
        <p:spPr>
          <a:xfrm>
            <a:off x="640080" y="3383280"/>
            <a:ext cx="7863840" cy="320040"/>
          </a:xfrm>
          <a:prstGeom prst="rect">
            <a:avLst/>
          </a:prstGeom>
          <a:noFill/>
          <a:ln/>
        </p:spPr>
        <p:txBody>
          <a:bodyPr wrap="square" lIns="0" tIns="0" rIns="0" bIns="0" rtlCol="0" anchor="ctr"/>
          <a:lstStyle/>
          <a:p>
            <a:pPr marL="0" indent="0">
              <a:buNone/>
            </a:pP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D5A40666-637A-2DC5-1850-FB4E886BEA7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670D8B-7ECC-3FAB-398E-E8287CEF3F7E}"/>
              </a:ext>
            </a:extLst>
          </p:cNvPr>
          <p:cNvSpPr/>
          <p:nvPr/>
        </p:nvSpPr>
        <p:spPr>
          <a:xfrm>
            <a:off x="0" y="0"/>
            <a:ext cx="9144000" cy="54864"/>
          </a:xfrm>
          <a:prstGeom prst="rect">
            <a:avLst/>
          </a:prstGeom>
          <a:solidFill>
            <a:srgbClr val="06B6D4"/>
          </a:solidFill>
          <a:ln/>
        </p:spPr>
        <p:txBody>
          <a:bodyPr/>
          <a:lstStyle/>
          <a:p>
            <a:endParaRPr lang="en-US"/>
          </a:p>
        </p:txBody>
      </p:sp>
      <p:sp>
        <p:nvSpPr>
          <p:cNvPr id="3" name="Text 1">
            <a:extLst>
              <a:ext uri="{FF2B5EF4-FFF2-40B4-BE49-F238E27FC236}">
                <a16:creationId xmlns:a16="http://schemas.microsoft.com/office/drawing/2014/main" id="{F7AC9DF7-9088-E1F2-E229-2D5B042DB11C}"/>
              </a:ext>
            </a:extLst>
          </p:cNvPr>
          <p:cNvSpPr/>
          <p:nvPr/>
        </p:nvSpPr>
        <p:spPr>
          <a:xfrm>
            <a:off x="640080" y="274320"/>
            <a:ext cx="54864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a:ea typeface="Trebuchet MS" pitchFamily="34" charset="-122"/>
                <a:cs typeface="Trebuchet MS" pitchFamily="34" charset="-120"/>
              </a:rPr>
              <a:t>Results — FiQA</a:t>
            </a:r>
            <a:endParaRPr lang="en-US" sz="3000">
              <a:latin typeface="Trebuchet MS"/>
            </a:endParaRPr>
          </a:p>
        </p:txBody>
      </p:sp>
      <p:sp>
        <p:nvSpPr>
          <p:cNvPr id="4" name="Text 2">
            <a:extLst>
              <a:ext uri="{FF2B5EF4-FFF2-40B4-BE49-F238E27FC236}">
                <a16:creationId xmlns:a16="http://schemas.microsoft.com/office/drawing/2014/main" id="{0AC591E0-DF59-9A87-4862-508FD0DBAA84}"/>
              </a:ext>
            </a:extLst>
          </p:cNvPr>
          <p:cNvSpPr/>
          <p:nvPr/>
        </p:nvSpPr>
        <p:spPr>
          <a:xfrm>
            <a:off x="640080" y="777240"/>
            <a:ext cx="7315200" cy="274320"/>
          </a:xfrm>
          <a:prstGeom prst="rect">
            <a:avLst/>
          </a:prstGeom>
          <a:noFill/>
          <a:ln/>
        </p:spPr>
        <p:txBody>
          <a:bodyPr wrap="square" lIns="0" tIns="0" rIns="0" bIns="0" rtlCol="0" anchor="ctr"/>
          <a:lstStyle/>
          <a:p>
            <a:r>
              <a:rPr lang="en-US" sz="1100">
                <a:solidFill>
                  <a:srgbClr val="64748B"/>
                </a:solidFill>
                <a:latin typeface="Calibri"/>
                <a:ea typeface="Calibri"/>
                <a:cs typeface="Calibri"/>
              </a:rPr>
              <a:t>648 queries  · 57K document subset</a:t>
            </a:r>
          </a:p>
        </p:txBody>
      </p:sp>
      <p:graphicFrame>
        <p:nvGraphicFramePr>
          <p:cNvPr id="10" name="Table 0">
            <a:extLst>
              <a:ext uri="{FF2B5EF4-FFF2-40B4-BE49-F238E27FC236}">
                <a16:creationId xmlns:a16="http://schemas.microsoft.com/office/drawing/2014/main" id="{E2E66353-77CE-63BD-345D-211CFF036F4C}"/>
              </a:ext>
            </a:extLst>
          </p:cNvPr>
          <p:cNvGraphicFramePr>
            <a:graphicFrameLocks noGrp="1"/>
          </p:cNvGraphicFramePr>
          <p:nvPr>
            <p:extLst>
              <p:ext uri="{D42A27DB-BD31-4B8C-83A1-F6EECF244321}">
                <p14:modId xmlns:p14="http://schemas.microsoft.com/office/powerpoint/2010/main" val="1118998505"/>
              </p:ext>
            </p:extLst>
          </p:nvPr>
        </p:nvGraphicFramePr>
        <p:xfrm>
          <a:off x="640080" y="1325880"/>
          <a:ext cx="7863840" cy="276352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690880">
                <a:tc>
                  <a:txBody>
                    <a:bodyPr/>
                    <a:lstStyle/>
                    <a:p>
                      <a:pPr marL="0" indent="0">
                        <a:buNone/>
                      </a:pPr>
                      <a:r>
                        <a:rPr lang="en-US" sz="1300" b="1">
                          <a:solidFill>
                            <a:srgbClr val="FFFFFF"/>
                          </a:solidFill>
                          <a:latin typeface="Calibri"/>
                          <a:ea typeface="Calibri"/>
                          <a:cs typeface="Calibri"/>
                        </a:rPr>
                        <a:t>Method</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nDCG@10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MRR@10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Recall@100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690880">
                <a:tc>
                  <a:txBody>
                    <a:bodyPr/>
                    <a:lstStyle/>
                    <a:p>
                      <a:pPr marL="0" indent="0">
                        <a:buNone/>
                      </a:pPr>
                      <a:r>
                        <a:rPr lang="en-US" sz="1300" b="1">
                          <a:solidFill>
                            <a:srgbClr val="F1F5F9"/>
                          </a:solidFill>
                          <a:latin typeface="Calibri"/>
                          <a:ea typeface="Calibri"/>
                          <a:cs typeface="Calibri"/>
                        </a:rPr>
                        <a:t>BM25</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pitchFamily="34" charset="-122"/>
                          <a:cs typeface="Consolas" pitchFamily="34" charset="-120"/>
                        </a:rPr>
                        <a:t>0.2288</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charset="0"/>
                          <a:cs typeface="Consolas" charset="0"/>
                        </a:rPr>
                        <a:t>0.2820</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charset="0"/>
                          <a:cs typeface="Consolas" charset="0"/>
                        </a:rPr>
                        <a:t>0.4997</a:t>
                      </a:r>
                      <a:endParaRPr lang="en-US" sz="1300" b="0">
                        <a:latin typeface="Consolas"/>
                        <a:ea typeface="Consolas" charset="0"/>
                        <a:cs typeface="Consolas" charset="0"/>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690880">
                <a:tc>
                  <a:txBody>
                    <a:bodyPr/>
                    <a:lstStyle/>
                    <a:p>
                      <a:pPr marL="0" indent="0">
                        <a:buNone/>
                      </a:pPr>
                      <a:r>
                        <a:rPr lang="en-US" sz="1300" b="1" err="1">
                          <a:solidFill>
                            <a:srgbClr val="F1F5F9"/>
                          </a:solidFill>
                          <a:latin typeface="Calibri"/>
                          <a:ea typeface="Calibri"/>
                          <a:cs typeface="Calibri"/>
                        </a:rPr>
                        <a:t>ColBERT</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charset="0"/>
                          <a:cs typeface="Consolas" charset="0"/>
                        </a:rPr>
                        <a:t>0.3362</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charset="0"/>
                          <a:cs typeface="Consolas" charset="0"/>
                        </a:rPr>
                        <a:t>0.4103</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charset="0"/>
                          <a:cs typeface="Consolas" charset="0"/>
                        </a:rPr>
                        <a:t>0.6239</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extLst>
                  <a:ext uri="{0D108BD9-81ED-4DB2-BD59-A6C34878D82A}">
                    <a16:rowId xmlns:a16="http://schemas.microsoft.com/office/drawing/2014/main" val="10002"/>
                  </a:ext>
                </a:extLst>
              </a:tr>
              <a:tr h="690880">
                <a:tc>
                  <a:txBody>
                    <a:bodyPr/>
                    <a:lstStyle/>
                    <a:p>
                      <a:pPr marL="0" indent="0">
                        <a:buNone/>
                      </a:pPr>
                      <a:r>
                        <a:rPr lang="en-US" sz="1300" b="1">
                          <a:solidFill>
                            <a:schemeClr val="bg1"/>
                          </a:solidFill>
                          <a:latin typeface="Calibri"/>
                          <a:ea typeface="Calibri"/>
                          <a:cs typeface="Calibri"/>
                        </a:rPr>
                        <a:t>RRF Hybrid</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chemeClr val="bg1"/>
                          </a:solidFill>
                          <a:latin typeface="Consolas"/>
                          <a:ea typeface="Consolas" charset="0"/>
                          <a:cs typeface="Consolas" charset="0"/>
                        </a:rPr>
                        <a:t>0.2960</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chemeClr val="bg1"/>
                          </a:solidFill>
                          <a:latin typeface="Consolas"/>
                          <a:ea typeface="Consolas" charset="0"/>
                          <a:cs typeface="Consolas" charset="0"/>
                        </a:rPr>
                        <a:t>0.2820</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chemeClr val="bg1"/>
                          </a:solidFill>
                          <a:latin typeface="Consolas"/>
                          <a:ea typeface="Consolas" charset="0"/>
                          <a:cs typeface="Consolas" charset="0"/>
                        </a:rPr>
                        <a:t>0.6119</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D7967912-3C27-0FE3-81E8-026F3AAE99FE}"/>
              </a:ext>
            </a:extLst>
          </p:cNvPr>
          <p:cNvSpPr/>
          <p:nvPr/>
        </p:nvSpPr>
        <p:spPr>
          <a:xfrm>
            <a:off x="640080" y="3383280"/>
            <a:ext cx="7863840" cy="320040"/>
          </a:xfrm>
          <a:prstGeom prst="rect">
            <a:avLst/>
          </a:prstGeom>
          <a:noFill/>
          <a:ln/>
        </p:spPr>
        <p:txBody>
          <a:bodyPr wrap="square" lIns="0" tIns="0" rIns="0" bIns="0" rtlCol="0" anchor="ctr"/>
          <a:lstStyle/>
          <a:p>
            <a:pPr marL="0" indent="0">
              <a:buNone/>
            </a:pPr>
            <a:endParaRPr lang="en-US" sz="1000"/>
          </a:p>
        </p:txBody>
      </p:sp>
    </p:spTree>
    <p:extLst>
      <p:ext uri="{BB962C8B-B14F-4D97-AF65-F5344CB8AC3E}">
        <p14:creationId xmlns:p14="http://schemas.microsoft.com/office/powerpoint/2010/main" val="214726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3A181E1-244A-86D8-6561-4C368C3A4C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48524E3-2898-7F51-F932-6C1B9E90C20C}"/>
              </a:ext>
            </a:extLst>
          </p:cNvPr>
          <p:cNvSpPr/>
          <p:nvPr/>
        </p:nvSpPr>
        <p:spPr>
          <a:xfrm>
            <a:off x="0" y="0"/>
            <a:ext cx="9144000" cy="54864"/>
          </a:xfrm>
          <a:prstGeom prst="rect">
            <a:avLst/>
          </a:prstGeom>
          <a:solidFill>
            <a:srgbClr val="06B6D4"/>
          </a:solidFill>
          <a:ln/>
        </p:spPr>
        <p:txBody>
          <a:bodyPr/>
          <a:lstStyle/>
          <a:p>
            <a:endParaRPr lang="en-US"/>
          </a:p>
        </p:txBody>
      </p:sp>
      <p:sp>
        <p:nvSpPr>
          <p:cNvPr id="3" name="Text 1">
            <a:extLst>
              <a:ext uri="{FF2B5EF4-FFF2-40B4-BE49-F238E27FC236}">
                <a16:creationId xmlns:a16="http://schemas.microsoft.com/office/drawing/2014/main" id="{163DB1BC-F832-9C5E-7DD4-19872D936486}"/>
              </a:ext>
            </a:extLst>
          </p:cNvPr>
          <p:cNvSpPr/>
          <p:nvPr/>
        </p:nvSpPr>
        <p:spPr>
          <a:xfrm>
            <a:off x="640080" y="274320"/>
            <a:ext cx="54864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a:ea typeface="Trebuchet MS" pitchFamily="34" charset="-122"/>
                <a:cs typeface="Trebuchet MS" pitchFamily="34" charset="-120"/>
              </a:rPr>
              <a:t>Results — TREC-COVID</a:t>
            </a:r>
            <a:endParaRPr lang="en-US" sz="3000">
              <a:latin typeface="Trebuchet MS"/>
            </a:endParaRPr>
          </a:p>
        </p:txBody>
      </p:sp>
      <p:sp>
        <p:nvSpPr>
          <p:cNvPr id="4" name="Text 2">
            <a:extLst>
              <a:ext uri="{FF2B5EF4-FFF2-40B4-BE49-F238E27FC236}">
                <a16:creationId xmlns:a16="http://schemas.microsoft.com/office/drawing/2014/main" id="{C3600C90-AB83-A5F6-9AA7-D1E1A4E700C0}"/>
              </a:ext>
            </a:extLst>
          </p:cNvPr>
          <p:cNvSpPr/>
          <p:nvPr/>
        </p:nvSpPr>
        <p:spPr>
          <a:xfrm>
            <a:off x="640080" y="777240"/>
            <a:ext cx="7315200" cy="274320"/>
          </a:xfrm>
          <a:prstGeom prst="rect">
            <a:avLst/>
          </a:prstGeom>
          <a:noFill/>
          <a:ln/>
        </p:spPr>
        <p:txBody>
          <a:bodyPr wrap="square" lIns="0" tIns="0" rIns="0" bIns="0" rtlCol="0" anchor="ctr"/>
          <a:lstStyle/>
          <a:p>
            <a:r>
              <a:rPr lang="en-US" sz="1100">
                <a:solidFill>
                  <a:srgbClr val="64748B"/>
                </a:solidFill>
                <a:latin typeface="Calibri"/>
                <a:ea typeface="Calibri"/>
                <a:cs typeface="Calibri"/>
              </a:rPr>
              <a:t>50 queries  · 70.48k document subset</a:t>
            </a:r>
          </a:p>
        </p:txBody>
      </p:sp>
      <p:graphicFrame>
        <p:nvGraphicFramePr>
          <p:cNvPr id="10" name="Table 0">
            <a:extLst>
              <a:ext uri="{FF2B5EF4-FFF2-40B4-BE49-F238E27FC236}">
                <a16:creationId xmlns:a16="http://schemas.microsoft.com/office/drawing/2014/main" id="{83CEC872-7931-5955-FAF4-2223D14FE35A}"/>
              </a:ext>
            </a:extLst>
          </p:cNvPr>
          <p:cNvGraphicFramePr>
            <a:graphicFrameLocks noGrp="1"/>
          </p:cNvGraphicFramePr>
          <p:nvPr>
            <p:extLst>
              <p:ext uri="{D42A27DB-BD31-4B8C-83A1-F6EECF244321}">
                <p14:modId xmlns:p14="http://schemas.microsoft.com/office/powerpoint/2010/main" val="2927903871"/>
              </p:ext>
            </p:extLst>
          </p:nvPr>
        </p:nvGraphicFramePr>
        <p:xfrm>
          <a:off x="640080" y="1280160"/>
          <a:ext cx="7863840" cy="278384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699998">
                <a:tc>
                  <a:txBody>
                    <a:bodyPr/>
                    <a:lstStyle/>
                    <a:p>
                      <a:pPr marL="0" indent="0">
                        <a:buNone/>
                      </a:pPr>
                      <a:r>
                        <a:rPr lang="en-US" sz="1300" b="1">
                          <a:solidFill>
                            <a:srgbClr val="FFFFFF"/>
                          </a:solidFill>
                          <a:latin typeface="Calibri"/>
                          <a:ea typeface="Calibri"/>
                          <a:cs typeface="Calibri"/>
                        </a:rPr>
                        <a:t>Method</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nDCG@10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MRR@10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tc>
                  <a:txBody>
                    <a:bodyPr/>
                    <a:lstStyle/>
                    <a:p>
                      <a:pPr marL="0" indent="0" algn="ctr">
                        <a:buNone/>
                      </a:pPr>
                      <a:r>
                        <a:rPr lang="en-US" sz="1300" b="1">
                          <a:solidFill>
                            <a:srgbClr val="FFFFFF"/>
                          </a:solidFill>
                          <a:latin typeface="Calibri"/>
                          <a:ea typeface="Calibri"/>
                          <a:cs typeface="Calibri"/>
                        </a:rPr>
                        <a:t>Recall@100</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694614">
                <a:tc>
                  <a:txBody>
                    <a:bodyPr/>
                    <a:lstStyle/>
                    <a:p>
                      <a:pPr marL="0" indent="0">
                        <a:buNone/>
                      </a:pPr>
                      <a:r>
                        <a:rPr lang="en-US" sz="1300" b="1">
                          <a:solidFill>
                            <a:srgbClr val="F1F5F9"/>
                          </a:solidFill>
                          <a:latin typeface="Calibri"/>
                          <a:ea typeface="Calibri"/>
                          <a:cs typeface="Calibri"/>
                        </a:rPr>
                        <a:t>BM25</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pitchFamily="34" charset="-122"/>
                          <a:cs typeface="Consolas" pitchFamily="34" charset="-120"/>
                        </a:rPr>
                        <a:t>0.4822</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charset="0"/>
                          <a:cs typeface="Consolas" charset="0"/>
                        </a:rPr>
                        <a:t>0.6932</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rgbClr val="F1F5F9"/>
                          </a:solidFill>
                          <a:latin typeface="Consolas"/>
                          <a:ea typeface="Consolas" charset="0"/>
                          <a:cs typeface="Consolas" charset="0"/>
                        </a:rPr>
                        <a:t>0.0927</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694614">
                <a:tc>
                  <a:txBody>
                    <a:bodyPr/>
                    <a:lstStyle/>
                    <a:p>
                      <a:pPr marL="0" indent="0">
                        <a:buNone/>
                      </a:pPr>
                      <a:r>
                        <a:rPr lang="en-US" sz="1300" b="1" err="1">
                          <a:solidFill>
                            <a:srgbClr val="F1F5F9"/>
                          </a:solidFill>
                          <a:latin typeface="Calibri"/>
                          <a:ea typeface="Calibri"/>
                          <a:cs typeface="Calibri"/>
                        </a:rPr>
                        <a:t>ColBERT</a:t>
                      </a:r>
                      <a:endParaRPr lang="en-US" sz="1300" b="1">
                        <a:latin typeface="Calibri"/>
                        <a:ea typeface="Calibri"/>
                        <a:cs typeface="Calibri"/>
                      </a:endParaRP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charset="0"/>
                          <a:cs typeface="Consolas" charset="0"/>
                        </a:rPr>
                        <a:t>0.7303</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charset="0"/>
                          <a:cs typeface="Consolas" charset="0"/>
                        </a:rPr>
                        <a:t>0.9162</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tc>
                  <a:txBody>
                    <a:bodyPr/>
                    <a:lstStyle/>
                    <a:p>
                      <a:pPr marL="0" indent="0" algn="ctr">
                        <a:buNone/>
                      </a:pPr>
                      <a:r>
                        <a:rPr lang="en-US" sz="1300" b="0">
                          <a:solidFill>
                            <a:srgbClr val="00B0F0"/>
                          </a:solidFill>
                          <a:latin typeface="Consolas"/>
                          <a:ea typeface="Consolas" charset="0"/>
                          <a:cs typeface="Consolas" charset="0"/>
                        </a:rPr>
                        <a:t>0.1371</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334155"/>
                    </a:solidFill>
                  </a:tcPr>
                </a:tc>
                <a:extLst>
                  <a:ext uri="{0D108BD9-81ED-4DB2-BD59-A6C34878D82A}">
                    <a16:rowId xmlns:a16="http://schemas.microsoft.com/office/drawing/2014/main" val="10002"/>
                  </a:ext>
                </a:extLst>
              </a:tr>
              <a:tr h="694614">
                <a:tc>
                  <a:txBody>
                    <a:bodyPr/>
                    <a:lstStyle/>
                    <a:p>
                      <a:pPr marL="0" indent="0">
                        <a:buNone/>
                      </a:pPr>
                      <a:r>
                        <a:rPr lang="en-US" sz="1300" b="1">
                          <a:solidFill>
                            <a:schemeClr val="bg1"/>
                          </a:solidFill>
                          <a:latin typeface="Calibri"/>
                          <a:ea typeface="Calibri"/>
                          <a:cs typeface="Calibri"/>
                        </a:rPr>
                        <a:t>RRF Hybrid</a:t>
                      </a:r>
                      <a:endParaRPr lang="en-US"/>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a:solidFill>
                            <a:schemeClr val="bg1"/>
                          </a:solidFill>
                          <a:latin typeface="Consolas"/>
                          <a:ea typeface="Consolas" charset="0"/>
                          <a:cs typeface="Consolas" charset="0"/>
                        </a:rPr>
                        <a:t>0.7068</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chemeClr val="bg1"/>
                          </a:solidFill>
                          <a:latin typeface="Consolas"/>
                          <a:ea typeface="Consolas" charset="0"/>
                          <a:cs typeface="Consolas" charset="0"/>
                        </a:rPr>
                        <a:t>0.9100</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1300" b="0" dirty="0">
                          <a:solidFill>
                            <a:schemeClr val="bg1"/>
                          </a:solidFill>
                          <a:latin typeface="Consolas"/>
                          <a:ea typeface="Consolas" charset="0"/>
                          <a:cs typeface="Consolas" charset="0"/>
                        </a:rPr>
                        <a:t>0.1273</a:t>
                      </a:r>
                    </a:p>
                  </a:txBody>
                  <a:tcP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CFD75126-9753-CDC5-C2BC-8A23993DD2A2}"/>
              </a:ext>
            </a:extLst>
          </p:cNvPr>
          <p:cNvSpPr/>
          <p:nvPr/>
        </p:nvSpPr>
        <p:spPr>
          <a:xfrm>
            <a:off x="640080" y="3383280"/>
            <a:ext cx="7863840" cy="320040"/>
          </a:xfrm>
          <a:prstGeom prst="rect">
            <a:avLst/>
          </a:prstGeom>
          <a:noFill/>
          <a:ln/>
        </p:spPr>
        <p:txBody>
          <a:bodyPr wrap="square" lIns="0" tIns="0" rIns="0" bIns="0" rtlCol="0" anchor="ctr"/>
          <a:lstStyle/>
          <a:p>
            <a:pPr marL="0" indent="0">
              <a:buNone/>
            </a:pPr>
            <a:endParaRPr lang="en-US" sz="1000"/>
          </a:p>
        </p:txBody>
      </p:sp>
    </p:spTree>
    <p:extLst>
      <p:ext uri="{BB962C8B-B14F-4D97-AF65-F5344CB8AC3E}">
        <p14:creationId xmlns:p14="http://schemas.microsoft.com/office/powerpoint/2010/main" val="537018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US"/>
          </a:p>
        </p:txBody>
      </p:sp>
      <p:sp>
        <p:nvSpPr>
          <p:cNvPr id="3" name="Text 1"/>
          <p:cNvSpPr/>
          <p:nvPr/>
        </p:nvSpPr>
        <p:spPr>
          <a:xfrm>
            <a:off x="640080" y="274320"/>
            <a:ext cx="82296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pitchFamily="34" charset="0"/>
                <a:ea typeface="Trebuchet MS" pitchFamily="34" charset="-122"/>
                <a:cs typeface="Trebuchet MS" pitchFamily="34" charset="-120"/>
              </a:rPr>
              <a:t>Conclusion</a:t>
            </a:r>
            <a:endParaRPr lang="en-US" sz="3000"/>
          </a:p>
        </p:txBody>
      </p:sp>
      <p:sp>
        <p:nvSpPr>
          <p:cNvPr id="4" name="Shape 2"/>
          <p:cNvSpPr/>
          <p:nvPr/>
        </p:nvSpPr>
        <p:spPr>
          <a:xfrm>
            <a:off x="640080" y="1097280"/>
            <a:ext cx="7863840" cy="91440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353312"/>
            <a:ext cx="365760" cy="365760"/>
          </a:xfrm>
          <a:prstGeom prst="rect">
            <a:avLst/>
          </a:prstGeom>
        </p:spPr>
      </p:pic>
      <p:sp>
        <p:nvSpPr>
          <p:cNvPr id="7" name="Text 4"/>
          <p:cNvSpPr/>
          <p:nvPr/>
        </p:nvSpPr>
        <p:spPr>
          <a:xfrm>
            <a:off x="1508760" y="1445257"/>
            <a:ext cx="6766560" cy="566421"/>
          </a:xfrm>
          <a:prstGeom prst="rect">
            <a:avLst/>
          </a:prstGeom>
          <a:noFill/>
          <a:ln/>
        </p:spPr>
        <p:txBody>
          <a:bodyPr wrap="square" lIns="0" tIns="0" rIns="0" bIns="0" rtlCol="0" anchor="ctr"/>
          <a:lstStyle/>
          <a:p>
            <a:r>
              <a:rPr lang="en-GB" sz="1100" dirty="0">
                <a:solidFill>
                  <a:schemeClr val="bg1"/>
                </a:solidFill>
              </a:rPr>
              <a:t>- </a:t>
            </a:r>
            <a:r>
              <a:rPr lang="en-GB" sz="1100" dirty="0" err="1">
                <a:solidFill>
                  <a:schemeClr val="bg1"/>
                </a:solidFill>
              </a:rPr>
              <a:t>ColBERT</a:t>
            </a:r>
            <a:r>
              <a:rPr lang="en-GB" sz="1100" dirty="0">
                <a:solidFill>
                  <a:schemeClr val="bg1"/>
                </a:solidFill>
              </a:rPr>
              <a:t> consistently outperformed BM25</a:t>
            </a:r>
          </a:p>
          <a:p>
            <a:r>
              <a:rPr lang="en-GB" sz="1100" dirty="0">
                <a:solidFill>
                  <a:schemeClr val="bg1"/>
                </a:solidFill>
              </a:rPr>
              <a:t>- Hybrid retrieval (RRF) sometimes improved ranking quality and recall, particularly on </a:t>
            </a:r>
            <a:r>
              <a:rPr lang="en-GB" sz="1100" dirty="0" err="1">
                <a:solidFill>
                  <a:schemeClr val="bg1"/>
                </a:solidFill>
              </a:rPr>
              <a:t>HotpotQA</a:t>
            </a:r>
            <a:r>
              <a:rPr lang="en-GB" sz="1100" dirty="0">
                <a:solidFill>
                  <a:schemeClr val="bg1"/>
                </a:solidFill>
              </a:rPr>
              <a:t>.</a:t>
            </a:r>
          </a:p>
        </p:txBody>
      </p:sp>
      <p:sp>
        <p:nvSpPr>
          <p:cNvPr id="8" name="Shape 5"/>
          <p:cNvSpPr/>
          <p:nvPr/>
        </p:nvSpPr>
        <p:spPr>
          <a:xfrm>
            <a:off x="640080" y="2240280"/>
            <a:ext cx="7863840" cy="91440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9" name="Image 1" descr="preencoded.png"/>
          <p:cNvPicPr>
            <a:picLocks noChangeAspect="1"/>
          </p:cNvPicPr>
          <p:nvPr/>
        </p:nvPicPr>
        <p:blipFill>
          <a:blip r:embed="rId3"/>
          <a:stretch>
            <a:fillRect/>
          </a:stretch>
        </p:blipFill>
        <p:spPr>
          <a:xfrm>
            <a:off x="914400" y="2496312"/>
            <a:ext cx="365760" cy="365760"/>
          </a:xfrm>
          <a:prstGeom prst="rect">
            <a:avLst/>
          </a:prstGeom>
        </p:spPr>
      </p:pic>
      <p:sp>
        <p:nvSpPr>
          <p:cNvPr id="10" name="Text 6"/>
          <p:cNvSpPr/>
          <p:nvPr/>
        </p:nvSpPr>
        <p:spPr>
          <a:xfrm>
            <a:off x="1463040" y="2331720"/>
            <a:ext cx="676656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Cross-Domain Robustness</a:t>
            </a:r>
            <a:endParaRPr lang="en-US" sz="1500" dirty="0"/>
          </a:p>
        </p:txBody>
      </p:sp>
      <p:sp>
        <p:nvSpPr>
          <p:cNvPr id="11" name="Text 7"/>
          <p:cNvSpPr/>
          <p:nvPr/>
        </p:nvSpPr>
        <p:spPr>
          <a:xfrm>
            <a:off x="1463040" y="2679192"/>
            <a:ext cx="6766560" cy="411480"/>
          </a:xfrm>
          <a:prstGeom prst="rect">
            <a:avLst/>
          </a:prstGeom>
          <a:noFill/>
          <a:ln/>
        </p:spPr>
        <p:txBody>
          <a:bodyPr wrap="square" lIns="0" tIns="0" rIns="0" bIns="0" rtlCol="0" anchor="ctr"/>
          <a:lstStyle/>
          <a:p>
            <a:r>
              <a:rPr lang="en-GB" sz="1100" dirty="0">
                <a:solidFill>
                  <a:schemeClr val="bg1"/>
                </a:solidFill>
              </a:rPr>
              <a:t>- Strong zero-shot performance across datasets, showing dense retrieval models can generalise across different domains.</a:t>
            </a:r>
          </a:p>
        </p:txBody>
      </p:sp>
      <p:sp>
        <p:nvSpPr>
          <p:cNvPr id="12" name="Shape 8"/>
          <p:cNvSpPr/>
          <p:nvPr/>
        </p:nvSpPr>
        <p:spPr>
          <a:xfrm>
            <a:off x="640080" y="3383280"/>
            <a:ext cx="7863840" cy="914400"/>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13" name="Image 2" descr="preencoded.png"/>
          <p:cNvPicPr>
            <a:picLocks noChangeAspect="1"/>
          </p:cNvPicPr>
          <p:nvPr/>
        </p:nvPicPr>
        <p:blipFill>
          <a:blip r:embed="rId3"/>
          <a:stretch>
            <a:fillRect/>
          </a:stretch>
        </p:blipFill>
        <p:spPr>
          <a:xfrm>
            <a:off x="914400" y="3639312"/>
            <a:ext cx="365760" cy="365760"/>
          </a:xfrm>
          <a:prstGeom prst="rect">
            <a:avLst/>
          </a:prstGeom>
        </p:spPr>
      </p:pic>
      <p:sp>
        <p:nvSpPr>
          <p:cNvPr id="14" name="Text 9"/>
          <p:cNvSpPr/>
          <p:nvPr/>
        </p:nvSpPr>
        <p:spPr>
          <a:xfrm>
            <a:off x="1463040" y="3474720"/>
            <a:ext cx="6766560" cy="320040"/>
          </a:xfrm>
          <a:prstGeom prst="rect">
            <a:avLst/>
          </a:prstGeom>
          <a:noFill/>
          <a:ln/>
        </p:spPr>
        <p:txBody>
          <a:bodyPr wrap="square" lIns="0" tIns="0" rIns="0" bIns="0" rtlCol="0" anchor="ctr"/>
          <a:lstStyle/>
          <a:p>
            <a:pPr marL="0" indent="0">
              <a:buNone/>
            </a:pPr>
            <a:r>
              <a:rPr lang="en-US" sz="1500" b="1">
                <a:solidFill>
                  <a:srgbClr val="FFFFFF"/>
                </a:solidFill>
                <a:latin typeface="Trebuchet MS" pitchFamily="34" charset="0"/>
                <a:ea typeface="Trebuchet MS" pitchFamily="34" charset="-122"/>
                <a:cs typeface="Trebuchet MS" pitchFamily="34" charset="-120"/>
              </a:rPr>
              <a:t>Practical Architecture</a:t>
            </a:r>
            <a:endParaRPr lang="en-US" sz="1500"/>
          </a:p>
        </p:txBody>
      </p:sp>
      <p:sp>
        <p:nvSpPr>
          <p:cNvPr id="15" name="Text 10"/>
          <p:cNvSpPr/>
          <p:nvPr/>
        </p:nvSpPr>
        <p:spPr>
          <a:xfrm>
            <a:off x="1463040" y="3822192"/>
            <a:ext cx="6766560" cy="411480"/>
          </a:xfrm>
          <a:prstGeom prst="rect">
            <a:avLst/>
          </a:prstGeom>
          <a:noFill/>
          <a:ln/>
        </p:spPr>
        <p:txBody>
          <a:bodyPr wrap="square" lIns="0" tIns="0" rIns="0" bIns="0" rtlCol="0" anchor="ctr"/>
          <a:lstStyle/>
          <a:p>
            <a:r>
              <a:rPr lang="en-US" sz="1100" dirty="0">
                <a:solidFill>
                  <a:schemeClr val="bg1"/>
                </a:solidFill>
              </a:rPr>
              <a:t>- Elasticsearch, ColBERTv2, and RRF form a practical retrieval pipeline with an interactive </a:t>
            </a:r>
            <a:r>
              <a:rPr lang="en-US" sz="1100" dirty="0" err="1">
                <a:solidFill>
                  <a:schemeClr val="bg1"/>
                </a:solidFill>
              </a:rPr>
              <a:t>Streamlit</a:t>
            </a:r>
            <a:r>
              <a:rPr lang="en-US" sz="1100" dirty="0">
                <a:solidFill>
                  <a:schemeClr val="bg1"/>
                </a:solidFill>
              </a:rPr>
              <a:t> demo and reproducible </a:t>
            </a:r>
            <a:r>
              <a:rPr lang="en-US" sz="1100" dirty="0" err="1">
                <a:solidFill>
                  <a:schemeClr val="bg1"/>
                </a:solidFill>
              </a:rPr>
              <a:t>Colab</a:t>
            </a:r>
            <a:r>
              <a:rPr lang="en-US" sz="1100" dirty="0">
                <a:solidFill>
                  <a:schemeClr val="bg1"/>
                </a:solidFill>
              </a:rPr>
              <a:t> workflow.</a:t>
            </a:r>
          </a:p>
        </p:txBody>
      </p:sp>
      <p:sp>
        <p:nvSpPr>
          <p:cNvPr id="16" name="Text 6">
            <a:extLst>
              <a:ext uri="{FF2B5EF4-FFF2-40B4-BE49-F238E27FC236}">
                <a16:creationId xmlns:a16="http://schemas.microsoft.com/office/drawing/2014/main" id="{77CCEBB4-A95B-6355-4A83-4A65E11497C2}"/>
              </a:ext>
            </a:extLst>
          </p:cNvPr>
          <p:cNvSpPr/>
          <p:nvPr/>
        </p:nvSpPr>
        <p:spPr>
          <a:xfrm>
            <a:off x="1463040" y="1125217"/>
            <a:ext cx="676656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rPr>
              <a:t>Retrieval </a:t>
            </a:r>
            <a:r>
              <a:rPr lang="en-US" sz="1500" b="1">
                <a:solidFill>
                  <a:srgbClr val="FFFFFF"/>
                </a:solidFill>
                <a:latin typeface="Trebuchet MS" pitchFamily="34" charset="0"/>
              </a:rPr>
              <a:t>Method Performance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US"/>
          </a:p>
        </p:txBody>
      </p:sp>
      <p:sp>
        <p:nvSpPr>
          <p:cNvPr id="3" name="Text 1"/>
          <p:cNvSpPr/>
          <p:nvPr/>
        </p:nvSpPr>
        <p:spPr>
          <a:xfrm>
            <a:off x="640080" y="365760"/>
            <a:ext cx="8229600" cy="548640"/>
          </a:xfrm>
          <a:prstGeom prst="rect">
            <a:avLst/>
          </a:prstGeom>
          <a:noFill/>
          <a:ln/>
        </p:spPr>
        <p:txBody>
          <a:bodyPr wrap="square" lIns="0" tIns="0" rIns="0" bIns="0" rtlCol="0" anchor="ctr"/>
          <a:lstStyle/>
          <a:p>
            <a:pPr marL="0" indent="0">
              <a:buNone/>
            </a:pPr>
            <a:r>
              <a:rPr lang="en-US" sz="3000" b="1">
                <a:solidFill>
                  <a:srgbClr val="FFFFFF"/>
                </a:solidFill>
                <a:latin typeface="Trebuchet MS" pitchFamily="34" charset="0"/>
                <a:ea typeface="Trebuchet MS" pitchFamily="34" charset="-122"/>
                <a:cs typeface="Trebuchet MS" pitchFamily="34" charset="-120"/>
              </a:rPr>
              <a:t>Live Demo</a:t>
            </a:r>
            <a:endParaRPr lang="en-US" sz="3000"/>
          </a:p>
        </p:txBody>
      </p:sp>
      <p:sp>
        <p:nvSpPr>
          <p:cNvPr id="4" name="Text 2"/>
          <p:cNvSpPr/>
          <p:nvPr/>
        </p:nvSpPr>
        <p:spPr>
          <a:xfrm>
            <a:off x="640080" y="914400"/>
            <a:ext cx="8229600" cy="274320"/>
          </a:xfrm>
          <a:prstGeom prst="rect">
            <a:avLst/>
          </a:prstGeom>
          <a:noFill/>
          <a:ln/>
        </p:spPr>
        <p:txBody>
          <a:bodyPr wrap="square" lIns="0" tIns="0" rIns="0" bIns="0" rtlCol="0" anchor="ctr"/>
          <a:lstStyle/>
          <a:p>
            <a:pPr marL="0" indent="0">
              <a:buNone/>
            </a:pPr>
            <a:r>
              <a:rPr lang="en-US" sz="1300">
                <a:solidFill>
                  <a:srgbClr val="64748B"/>
                </a:solidFill>
                <a:latin typeface="Calibri" pitchFamily="34" charset="0"/>
                <a:ea typeface="Calibri" pitchFamily="34" charset="-122"/>
                <a:cs typeface="Calibri" pitchFamily="34" charset="-120"/>
              </a:rPr>
              <a:t>Streamlit interface showing side-by-side retrieval comparison</a:t>
            </a:r>
            <a:endParaRPr lang="en-US" sz="1300"/>
          </a:p>
        </p:txBody>
      </p:sp>
      <p:sp>
        <p:nvSpPr>
          <p:cNvPr id="5" name="Shape 3"/>
          <p:cNvSpPr/>
          <p:nvPr/>
        </p:nvSpPr>
        <p:spPr>
          <a:xfrm>
            <a:off x="640080" y="1463040"/>
            <a:ext cx="7863840" cy="658368"/>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618488"/>
            <a:ext cx="347472" cy="347472"/>
          </a:xfrm>
          <a:prstGeom prst="rect">
            <a:avLst/>
          </a:prstGeom>
        </p:spPr>
      </p:pic>
      <p:sp>
        <p:nvSpPr>
          <p:cNvPr id="7" name="Text 4"/>
          <p:cNvSpPr/>
          <p:nvPr/>
        </p:nvSpPr>
        <p:spPr>
          <a:xfrm>
            <a:off x="1463040" y="1536192"/>
            <a:ext cx="2743200" cy="274320"/>
          </a:xfrm>
          <a:prstGeom prst="rect">
            <a:avLst/>
          </a:prstGeom>
          <a:noFill/>
          <a:ln/>
        </p:spPr>
        <p:txBody>
          <a:bodyPr wrap="square" lIns="0" tIns="0" rIns="0" bIns="0" rtlCol="0" anchor="ctr"/>
          <a:lstStyle/>
          <a:p>
            <a:pPr marL="0" indent="0">
              <a:buNone/>
            </a:pPr>
            <a:r>
              <a:rPr lang="en-US" sz="1400" b="1">
                <a:solidFill>
                  <a:srgbClr val="FFFFFF"/>
                </a:solidFill>
                <a:latin typeface="Trebuchet MS" pitchFamily="34" charset="0"/>
                <a:ea typeface="Trebuchet MS" pitchFamily="34" charset="-122"/>
                <a:cs typeface="Trebuchet MS" pitchFamily="34" charset="-120"/>
              </a:rPr>
              <a:t>Query Input</a:t>
            </a:r>
            <a:endParaRPr lang="en-US" sz="1400"/>
          </a:p>
        </p:txBody>
      </p:sp>
      <p:sp>
        <p:nvSpPr>
          <p:cNvPr id="8" name="Text 5"/>
          <p:cNvSpPr/>
          <p:nvPr/>
        </p:nvSpPr>
        <p:spPr>
          <a:xfrm>
            <a:off x="1463040" y="1810512"/>
            <a:ext cx="6766560" cy="27432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Type any query — matches to closest stored query from evaluation set</a:t>
            </a:r>
            <a:endParaRPr lang="en-US" sz="1100"/>
          </a:p>
        </p:txBody>
      </p:sp>
      <p:sp>
        <p:nvSpPr>
          <p:cNvPr id="9" name="Shape 6"/>
          <p:cNvSpPr/>
          <p:nvPr/>
        </p:nvSpPr>
        <p:spPr>
          <a:xfrm>
            <a:off x="640080" y="2286000"/>
            <a:ext cx="7863840" cy="658368"/>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2441448"/>
            <a:ext cx="347472" cy="347472"/>
          </a:xfrm>
          <a:prstGeom prst="rect">
            <a:avLst/>
          </a:prstGeom>
        </p:spPr>
      </p:pic>
      <p:sp>
        <p:nvSpPr>
          <p:cNvPr id="11" name="Text 7"/>
          <p:cNvSpPr/>
          <p:nvPr/>
        </p:nvSpPr>
        <p:spPr>
          <a:xfrm>
            <a:off x="1463040" y="2359152"/>
            <a:ext cx="2743200" cy="274320"/>
          </a:xfrm>
          <a:prstGeom prst="rect">
            <a:avLst/>
          </a:prstGeom>
          <a:noFill/>
          <a:ln/>
        </p:spPr>
        <p:txBody>
          <a:bodyPr wrap="square" lIns="0" tIns="0" rIns="0" bIns="0" rtlCol="0" anchor="ctr"/>
          <a:lstStyle/>
          <a:p>
            <a:pPr marL="0" indent="0">
              <a:buNone/>
            </a:pPr>
            <a:r>
              <a:rPr lang="en-US" sz="1400" b="1">
                <a:solidFill>
                  <a:srgbClr val="FFFFFF"/>
                </a:solidFill>
                <a:latin typeface="Trebuchet MS" pitchFamily="34" charset="0"/>
                <a:ea typeface="Trebuchet MS" pitchFamily="34" charset="-122"/>
                <a:cs typeface="Trebuchet MS" pitchFamily="34" charset="-120"/>
              </a:rPr>
              <a:t>Three-Column Comparison</a:t>
            </a:r>
            <a:endParaRPr lang="en-US" sz="1400"/>
          </a:p>
        </p:txBody>
      </p:sp>
      <p:sp>
        <p:nvSpPr>
          <p:cNvPr id="12" name="Text 8"/>
          <p:cNvSpPr/>
          <p:nvPr/>
        </p:nvSpPr>
        <p:spPr>
          <a:xfrm>
            <a:off x="1463040" y="2633472"/>
            <a:ext cx="6766560" cy="27432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BM25, ColBERT, and RRF results displayed side by side with relevance scores</a:t>
            </a:r>
            <a:endParaRPr lang="en-US" sz="1100"/>
          </a:p>
        </p:txBody>
      </p:sp>
      <p:sp>
        <p:nvSpPr>
          <p:cNvPr id="13" name="Shape 9"/>
          <p:cNvSpPr/>
          <p:nvPr/>
        </p:nvSpPr>
        <p:spPr>
          <a:xfrm>
            <a:off x="640080" y="3108960"/>
            <a:ext cx="7863840" cy="658368"/>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914400" y="3264408"/>
            <a:ext cx="347472" cy="347472"/>
          </a:xfrm>
          <a:prstGeom prst="rect">
            <a:avLst/>
          </a:prstGeom>
        </p:spPr>
      </p:pic>
      <p:sp>
        <p:nvSpPr>
          <p:cNvPr id="15" name="Text 10"/>
          <p:cNvSpPr/>
          <p:nvPr/>
        </p:nvSpPr>
        <p:spPr>
          <a:xfrm>
            <a:off x="1463040" y="3182112"/>
            <a:ext cx="2743200" cy="274320"/>
          </a:xfrm>
          <a:prstGeom prst="rect">
            <a:avLst/>
          </a:prstGeom>
          <a:noFill/>
          <a:ln/>
        </p:spPr>
        <p:txBody>
          <a:bodyPr wrap="square" lIns="0" tIns="0" rIns="0" bIns="0" rtlCol="0" anchor="ctr"/>
          <a:lstStyle/>
          <a:p>
            <a:r>
              <a:rPr lang="en-US" sz="1400" b="1">
                <a:solidFill>
                  <a:schemeClr val="bg1"/>
                </a:solidFill>
              </a:rPr>
              <a:t>Multi-Dataset Pre-computed Queries</a:t>
            </a:r>
          </a:p>
        </p:txBody>
      </p:sp>
      <p:sp>
        <p:nvSpPr>
          <p:cNvPr id="16" name="Text 11"/>
          <p:cNvSpPr/>
          <p:nvPr/>
        </p:nvSpPr>
        <p:spPr>
          <a:xfrm>
            <a:off x="1463040" y="3456432"/>
            <a:ext cx="6766560" cy="27432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All HotpotQA, TREC-COVID, and FiQA queries with top-100 retrieval results precomputed, with the top-3 shown in the live interface.</a:t>
            </a:r>
          </a:p>
        </p:txBody>
      </p:sp>
      <p:sp>
        <p:nvSpPr>
          <p:cNvPr id="17" name="Shape 12"/>
          <p:cNvSpPr/>
          <p:nvPr/>
        </p:nvSpPr>
        <p:spPr>
          <a:xfrm>
            <a:off x="640080" y="3931920"/>
            <a:ext cx="7863840" cy="658368"/>
          </a:xfrm>
          <a:prstGeom prst="rect">
            <a:avLst/>
          </a:prstGeom>
          <a:solidFill>
            <a:srgbClr val="1E293B"/>
          </a:solidFill>
          <a:ln/>
          <a:effectLst>
            <a:outerShdw blurRad="50800" dist="12700" dir="8100000" algn="bl" rotWithShape="0">
              <a:srgbClr val="000000">
                <a:alpha val="8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914400" y="4087368"/>
            <a:ext cx="347472" cy="347472"/>
          </a:xfrm>
          <a:prstGeom prst="rect">
            <a:avLst/>
          </a:prstGeom>
        </p:spPr>
      </p:pic>
      <p:sp>
        <p:nvSpPr>
          <p:cNvPr id="19" name="Text 13"/>
          <p:cNvSpPr/>
          <p:nvPr/>
        </p:nvSpPr>
        <p:spPr>
          <a:xfrm>
            <a:off x="1463040" y="4005072"/>
            <a:ext cx="2743200" cy="274320"/>
          </a:xfrm>
          <a:prstGeom prst="rect">
            <a:avLst/>
          </a:prstGeom>
          <a:noFill/>
          <a:ln/>
        </p:spPr>
        <p:txBody>
          <a:bodyPr wrap="square" lIns="0" tIns="0" rIns="0" bIns="0" rtlCol="0" anchor="ctr"/>
          <a:lstStyle/>
          <a:p>
            <a:pPr marL="0" indent="0">
              <a:buNone/>
            </a:pPr>
            <a:r>
              <a:rPr lang="en-US" sz="1400" b="1">
                <a:solidFill>
                  <a:srgbClr val="FFFFFF"/>
                </a:solidFill>
                <a:latin typeface="Trebuchet MS" pitchFamily="34" charset="0"/>
                <a:ea typeface="Trebuchet MS" pitchFamily="34" charset="-122"/>
                <a:cs typeface="Trebuchet MS" pitchFamily="34" charset="-120"/>
              </a:rPr>
              <a:t>Live Quality Metrics</a:t>
            </a:r>
            <a:endParaRPr lang="en-US" sz="1400"/>
          </a:p>
        </p:txBody>
      </p:sp>
      <p:sp>
        <p:nvSpPr>
          <p:cNvPr id="20" name="Text 14"/>
          <p:cNvSpPr/>
          <p:nvPr/>
        </p:nvSpPr>
        <p:spPr>
          <a:xfrm>
            <a:off x="1463040" y="4279392"/>
            <a:ext cx="6766560" cy="27432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MRR@3 computed against ground-truth relevance judgements for each method</a:t>
            </a:r>
            <a:endParaRPr lang="en-US" sz="1100"/>
          </a:p>
        </p:txBody>
      </p:sp>
      <p:sp>
        <p:nvSpPr>
          <p:cNvPr id="21" name="Text 15"/>
          <p:cNvSpPr/>
          <p:nvPr/>
        </p:nvSpPr>
        <p:spPr>
          <a:xfrm>
            <a:off x="640080" y="4617720"/>
            <a:ext cx="7863840" cy="274320"/>
          </a:xfrm>
          <a:prstGeom prst="rect">
            <a:avLst/>
          </a:prstGeom>
          <a:noFill/>
          <a:ln/>
        </p:spPr>
        <p:txBody>
          <a:bodyPr wrap="square" lIns="0" tIns="0" rIns="0" bIns="0" rtlCol="0" anchor="ctr"/>
          <a:lstStyle/>
          <a:p>
            <a:pPr marL="0" indent="0" algn="r">
              <a:buNone/>
            </a:pPr>
            <a:r>
              <a:rPr lang="en-US" sz="1200" i="1">
                <a:solidFill>
                  <a:srgbClr val="06B6D4"/>
                </a:solidFill>
                <a:latin typeface="Calibri" pitchFamily="34" charset="0"/>
                <a:ea typeface="Calibri" pitchFamily="34" charset="-122"/>
                <a:cs typeface="Calibri" pitchFamily="34" charset="-120"/>
              </a:rPr>
              <a:t>live demo →</a:t>
            </a:r>
            <a:endParaRPr lang="en-US" sz="1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1627</Words>
  <Application>Microsoft Office PowerPoint</Application>
  <PresentationFormat>On-screen Show (16:9)</PresentationFormat>
  <Paragraphs>206</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Search Engine — BM25, ColBERT &amp; RRF</dc:title>
  <dc:subject>PptxGenJS Presentation</dc:subject>
  <dc:creator>Saif Ali Khan Mangan, Marharyta Dzhafarova, Haadi Muhammad Iftikhar</dc:creator>
  <cp:lastModifiedBy>Haadi Muhammad Iftikhar</cp:lastModifiedBy>
  <cp:revision>11</cp:revision>
  <dcterms:created xsi:type="dcterms:W3CDTF">2026-04-05T20:55:02Z</dcterms:created>
  <dcterms:modified xsi:type="dcterms:W3CDTF">2026-04-10T10:26:13Z</dcterms:modified>
</cp:coreProperties>
</file>